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public-full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nsights-full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CEB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+ MOBILE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18520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C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pic>
        <p:nvPicPr>
          <p:cNvPr id="5" name="Image 0" descr="/Users/pinkman/Documents/Codex/2026-09-23/continue-lawyer-app-https-github-com/outputs/lawyer-firm-pitch/assets/just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0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clearer path</a:t>
            </a:r>
            <a:endParaRPr lang="en-US" sz="5300" dirty="0"/>
          </a:p>
          <a:p>
            <a:pPr indent="0" marL="0">
              <a:buNone/>
            </a:pPr>
            <a:r>
              <a:rPr lang="en-US" sz="5300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your firm.</a:t>
            </a:r>
            <a:endParaRPr lang="en-US" sz="5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7490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1D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people discover, consult and stay connected.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0749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EB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connected website and workspace experience for your firm.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18520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useful before the first consultation.</a:t>
            </a:r>
            <a:endParaRPr lang="en-US" sz="39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1874520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moments that turn a question into a lasting client relationship.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852928"/>
            <a:ext cx="2560320" cy="2423160"/>
          </a:xfrm>
          <a:prstGeom prst="rect">
            <a:avLst/>
          </a:prstGeom>
          <a:solidFill>
            <a:srgbClr val="EAE3D5"/>
          </a:solidFill>
          <a:ln w="12700">
            <a:solidFill>
              <a:srgbClr val="EAE3D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0540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A87F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42976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relevant guide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Tamil or English.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47288" y="2852928"/>
            <a:ext cx="2560320" cy="2423160"/>
          </a:xfrm>
          <a:prstGeom prst="rect">
            <a:avLst/>
          </a:prstGeom>
          <a:solidFill>
            <a:srgbClr val="142E2B"/>
          </a:solidFill>
          <a:ln w="12700">
            <a:solidFill>
              <a:srgbClr val="142E2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8456" y="30540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D8BE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3648456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3648456" y="42976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 booking route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D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optional assistant.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0216" y="2852928"/>
            <a:ext cx="2560320" cy="2423160"/>
          </a:xfrm>
          <a:prstGeom prst="rect">
            <a:avLst/>
          </a:prstGeom>
          <a:solidFill>
            <a:srgbClr val="EAE3D5"/>
          </a:solidFill>
          <a:ln w="12700">
            <a:solidFill>
              <a:srgbClr val="EAE3D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01384" y="30540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A87F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1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42976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confirmed appointment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useful preparation.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53144" y="2852928"/>
            <a:ext cx="2560320" cy="2423160"/>
          </a:xfrm>
          <a:prstGeom prst="rect">
            <a:avLst/>
          </a:prstGeom>
          <a:solidFill>
            <a:srgbClr val="EAE3D5"/>
          </a:solidFill>
          <a:ln w="12700">
            <a:solidFill>
              <a:srgbClr val="EAE3D5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54312" y="30540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A87F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100" dirty="0"/>
          </a:p>
        </p:txBody>
      </p:sp>
      <p:sp>
        <p:nvSpPr>
          <p:cNvPr id="21" name="Text 19"/>
          <p:cNvSpPr txBox="1"/>
          <p:nvPr/>
        </p:nvSpPr>
        <p:spPr>
          <a:xfrm>
            <a:off x="9354312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9354312" y="42976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Documents, updates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next step.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EXPERIENCE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18520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confident first impression.</a:t>
            </a:r>
            <a:endParaRPr lang="en-US" sz="3900" dirty="0"/>
          </a:p>
        </p:txBody>
      </p:sp>
      <p:pic>
        <p:nvPicPr>
          <p:cNvPr id="6" name="Image 0" descr="/Users/pinkman/Documents/Codex/2026-09-23/continue-lawyer-app-https-github-com/work/pitch-build/website.png">    </p:cNvPr>
          <p:cNvPicPr>
            <a:picLocks noChangeAspect="1"/>
          </p:cNvPicPr>
          <p:nvPr/>
        </p:nvPicPr>
        <p:blipFill>
          <a:blip r:embed="rId1"/>
          <a:srcRect l="0" t="4474" r="0" b="9737"/>
          <a:stretch/>
        </p:blipFill>
        <p:spPr>
          <a:xfrm>
            <a:off x="4206240" y="1965960"/>
            <a:ext cx="7424928" cy="3785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speak?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88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directly without needing chat or an app download.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exploring?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6908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guide, explore services or ask for help choosing.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18520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the questions people already ask.</a:t>
            </a:r>
            <a:endParaRPr lang="en-US" sz="3900" dirty="0"/>
          </a:p>
        </p:txBody>
      </p:sp>
      <p:pic>
        <p:nvPicPr>
          <p:cNvPr id="6" name="Image 0" descr="/Users/pinkman/Documents/Codex/2026-09-23/continue-lawyer-app-https-github-com/work/pitch-build/gui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56232"/>
            <a:ext cx="6903720" cy="4343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18120" y="21214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focused topic.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30175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preparation → related service → checklist → consultation.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4462272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 + English articles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2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social explainers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2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visibility tracking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CONSULTATION ASSISTANT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18520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an unsure visitor become ready to book.</a:t>
            </a:r>
            <a:endParaRPr lang="en-US" sz="3900" dirty="0"/>
          </a:p>
        </p:txBody>
      </p:sp>
      <p:pic>
        <p:nvPicPr>
          <p:cNvPr id="6" name="Image 0" descr="/Users/pinkman/Documents/Codex/2026-09-23/continue-lawyer-app-https-github-com/work/pitch-build/assista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737360"/>
            <a:ext cx="7315200" cy="4480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331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situation.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1546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few relevant questions, explain the next step and suggest a suitable consultation.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96519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the summary forward only with the visitor’s agreement.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APPOINTMENT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18520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every handover clear.</a:t>
            </a:r>
            <a:endParaRPr lang="en-US" sz="39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1874520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consultation record connects the client, lawyer and office.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2898648"/>
            <a:ext cx="566928" cy="566928"/>
          </a:xfrm>
          <a:prstGeom prst="ellipse">
            <a:avLst/>
          </a:prstGeom>
          <a:solidFill>
            <a:srgbClr val="F5F0E6"/>
          </a:solidFill>
          <a:ln w="12700">
            <a:solidFill>
              <a:srgbClr val="A87F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96265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124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4398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chooses service,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language and time.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511296" y="2898648"/>
            <a:ext cx="566928" cy="566928"/>
          </a:xfrm>
          <a:prstGeom prst="ellipse">
            <a:avLst/>
          </a:prstGeom>
          <a:solidFill>
            <a:srgbClr val="F5F0E6"/>
          </a:solidFill>
          <a:ln w="12700">
            <a:solidFill>
              <a:srgbClr val="A87F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11296" y="296265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870448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37124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3493008" y="444398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confirms scope,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and fee.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64224" y="2898648"/>
            <a:ext cx="566928" cy="566928"/>
          </a:xfrm>
          <a:prstGeom prst="ellipse">
            <a:avLst/>
          </a:prstGeom>
          <a:solidFill>
            <a:srgbClr val="F5F0E6"/>
          </a:solidFill>
          <a:ln w="12700">
            <a:solidFill>
              <a:srgbClr val="A87F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296265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723376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37124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444398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tries mock checkout;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is confirmed.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217152" y="2898648"/>
            <a:ext cx="566928" cy="566928"/>
          </a:xfrm>
          <a:prstGeom prst="ellipse">
            <a:avLst/>
          </a:prstGeom>
          <a:solidFill>
            <a:srgbClr val="F5F0E6"/>
          </a:solidFill>
          <a:ln w="12700">
            <a:solidFill>
              <a:srgbClr val="A87F4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17152" y="296265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198864" y="37124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through</a:t>
            </a:r>
            <a:endParaRPr lang="en-US" sz="2500" dirty="0"/>
          </a:p>
        </p:txBody>
      </p:sp>
      <p:sp>
        <p:nvSpPr>
          <p:cNvPr id="25" name="Text 23"/>
          <p:cNvSpPr txBox="1"/>
          <p:nvPr/>
        </p:nvSpPr>
        <p:spPr>
          <a:xfrm>
            <a:off x="9198864" y="444398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documents,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advice and follow up.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payment sequence and service terms remain subject to the firm’s approval.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MOBILE EXPERIENCE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18520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firm. In their pocket.</a:t>
            </a:r>
            <a:endParaRPr lang="en-US" sz="3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48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website welcomes new visitors.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supports the ongoing relationship.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776472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OTP and profile editing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checkout and booking alerts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and time changes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summaries and follow-up</a:t>
            </a:r>
            <a:endParaRPr lang="en-US" sz="2000" dirty="0"/>
          </a:p>
        </p:txBody>
      </p:sp>
      <p:pic>
        <p:nvPicPr>
          <p:cNvPr id="8" name="Image 0" descr="/Users/pinkman/Documents/Codex/2026-09-23/continue-lawyer-app-https-github-com/work/pitch-build/phone-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554480"/>
            <a:ext cx="2606040" cy="4800600"/>
          </a:xfrm>
          <a:prstGeom prst="rect">
            <a:avLst/>
          </a:prstGeom>
        </p:spPr>
      </p:pic>
      <p:pic>
        <p:nvPicPr>
          <p:cNvPr id="9" name="Image 1" descr="/Users/pinkman/Documents/Codex/2026-09-23/continue-lawyer-app-https-github-com/work/pitch-build/phone-t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49640" y="1554480"/>
            <a:ext cx="269748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INSIGHT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18520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the team. Understand the work.</a:t>
            </a:r>
            <a:endParaRPr lang="en-US" sz="3900" dirty="0"/>
          </a:p>
        </p:txBody>
      </p:sp>
      <p:pic>
        <p:nvPicPr>
          <p:cNvPr id="6" name="Image 0" descr="/Users/pinkman/Documents/Codex/2026-09-23/continue-lawyer-app-https-github-com/work/pitch-build/dashboard.png">    </p:cNvPr>
          <p:cNvPicPr>
            <a:picLocks noChangeAspect="1"/>
          </p:cNvPicPr>
          <p:nvPr/>
        </p:nvPicPr>
        <p:blipFill>
          <a:blip r:embed="rId1"/>
          <a:srcRect l="10859" t="12929" r="51484" b="71862"/>
          <a:stretch/>
        </p:blipFill>
        <p:spPr>
          <a:xfrm>
            <a:off x="1161288" y="1975104"/>
            <a:ext cx="6199632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0" y="2304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accounts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788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and edit contact details; retain consultation history.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Lawyers &amp; performance</a:t>
            </a:r>
            <a:endParaRPr lang="en-US" sz="2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45312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photos and specializations; view activity, demand and sample collections.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08076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reflect sample records. Real reporting needs connected firm data.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87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OPPORTUNITIES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18520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services around the firm’s strengths.</a:t>
            </a:r>
            <a:endParaRPr lang="en-US" sz="39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1874520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small set the team can deliver well.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770632"/>
            <a:ext cx="3456432" cy="3017520"/>
          </a:xfrm>
          <a:prstGeom prst="rect">
            <a:avLst/>
          </a:prstGeom>
          <a:solidFill>
            <a:srgbClr val="EAE3D5"/>
          </a:solidFill>
          <a:ln w="12700">
            <a:solidFill>
              <a:srgbClr val="EAE3D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449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support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review and registration assistance.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3095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Potential: clearly scoped paid engagements.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770632"/>
            <a:ext cx="3456432" cy="3017520"/>
          </a:xfrm>
          <a:prstGeom prst="rect">
            <a:avLst/>
          </a:prstGeom>
          <a:solidFill>
            <a:srgbClr val="142E2B"/>
          </a:solidFill>
          <a:ln w="12700">
            <a:solidFill>
              <a:srgbClr val="142E2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30449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/ NRI clients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41605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Consultations and progress updates for Tamil Nadu matters.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533095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BE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Potential: reach beyond the local area.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75320" y="2770632"/>
            <a:ext cx="3456432" cy="3017520"/>
          </a:xfrm>
          <a:prstGeom prst="rect">
            <a:avLst/>
          </a:prstGeom>
          <a:solidFill>
            <a:srgbClr val="EAE3D5"/>
          </a:solidFill>
          <a:ln w="12700">
            <a:solidFill>
              <a:srgbClr val="EAE3D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0" y="30449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Small-business support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41605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employment documents and continuing advice.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533095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Potential: recurring client relationships.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CEB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FORWARD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2823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18520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C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focused next step.</a:t>
            </a:r>
            <a:endParaRPr lang="en-US" sz="39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1874520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1D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which additions would help most alongside the existing build.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EB5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8803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first customer journey.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35584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is the example; confirm the firm’s strongest service.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40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EB5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8404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with the current scope.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31596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what is already planned and identify useful additions.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00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EB5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8006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the service experience.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2760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languages, booking steps, fees and office responsibilities.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Private concept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clearer path to your firm</dc:title>
  <dc:subject>Law firm website and mobile experience concept</dc:subject>
  <dc:creator>Ezhilan</dc:creator>
  <cp:lastModifiedBy>Ezhilan</cp:lastModifiedBy>
  <cp:revision>1</cp:revision>
  <dcterms:created xsi:type="dcterms:W3CDTF">2026-09-24T20:25:01Z</dcterms:created>
  <dcterms:modified xsi:type="dcterms:W3CDTF">2026-09-24T20:25:01Z</dcterms:modified>
</cp:coreProperties>
</file>