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 for Suganthan. Scope reference: Online lawyer consultation mobile App development Proposal V0.3, issued 16 September 2026, functional pages 8–13. Later direction consolidates mobile roles into one app and adds a website. This presentation is not a cost or delivery-date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requirements pp8–9. Demo includes mock OTP, contact edits, synthetic booking and mock payment, in-app alerts and local document records. Live SMS, file storage, actual payment and background reminders are not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browser screenshots of the published synthetic demonstration: website and 390px mobile-app preview. Browser-local sample records; native mobile apps are not yet released. Workflow labels are editable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browser screenshots of the published synthetic demonstration: website and 390px mobile-app preview. Browser-local sample records; native mobile apps are not yet released. Workflow labels are editable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Charts in the demo use synthetic browser-local data. Production reports and Excel exports remain in scope and are not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browser screenshots of the published synthetic demonstration: website and 390px mobile-app preview. Browser-local sample records; native mobile apps are not yet released. Workflow labels are editable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demo refinements, not claims that these are original vendor requirements. Firm performance visualisations are an owner-requested enhancement to the original dashboard and reports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zhilan03.github.io/lawyer-app-demo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ezhilan03.github.io/lawyer-app-demo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B79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EXPERIENCE &amp; DELIVERY SCOPE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firm.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service.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889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D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first question to the final follow-up.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7947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and one role-based app for clients, lawyers and the firm.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0" y="2331720"/>
            <a:ext cx="2834640" cy="731520"/>
          </a:xfrm>
          <a:prstGeom prst="rect">
            <a:avLst/>
          </a:prstGeom>
          <a:solidFill>
            <a:srgbClr val="245144"/>
          </a:solidFill>
          <a:ln w="12700">
            <a:solidFill>
              <a:srgbClr val="24514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0" y="3337560"/>
            <a:ext cx="2834640" cy="731520"/>
          </a:xfrm>
          <a:prstGeom prst="rect">
            <a:avLst/>
          </a:prstGeom>
          <a:solidFill>
            <a:srgbClr val="245144"/>
          </a:solidFill>
          <a:ln w="12700">
            <a:solidFill>
              <a:srgbClr val="24514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0" y="4343400"/>
            <a:ext cx="2834640" cy="731520"/>
          </a:xfrm>
          <a:prstGeom prst="rect">
            <a:avLst/>
          </a:prstGeom>
          <a:solidFill>
            <a:srgbClr val="245144"/>
          </a:solidFill>
          <a:ln w="12700">
            <a:solidFill>
              <a:srgbClr val="24514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</a:t>
            </a:r>
            <a:endParaRPr lang="en-US" sz="1700" dirty="0"/>
          </a:p>
        </p:txBody>
      </p:sp>
      <p:sp>
        <p:nvSpPr>
          <p:cNvPr id="14" name="Text 12">
            <a:hlinkClick r:id="rId1" tooltip=""/>
          </p:cNvPr>
          <p:cNvSpPr txBox="1"/>
          <p:nvPr/>
        </p:nvSpPr>
        <p:spPr>
          <a:xfrm>
            <a:off x="594360" y="5367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B7975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Explore the interactive experience 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roles. One continuous relationship.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 starts the relationship. The workspaces carry it forward.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service, arrange a consultation, prepare documents and understand the next step.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availability, prepare for appointments, record outcomes and follow through.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firm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people, assignments, payments and service quality from one operating view.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64240" cy="475488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8247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scope: website + Android/iOS app + firm administration. Current release: an interactive browser demonstration.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JOURNEY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owner at every handover.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consultation record connects the request, appointment, documents and follow-up.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011680" cy="214884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999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75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07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Service, time, reason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88920" y="2834640"/>
            <a:ext cx="2011680" cy="214884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2999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575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4507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and reservation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834640"/>
            <a:ext cx="2011680" cy="214884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999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575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4507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and payment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69480" y="2834640"/>
            <a:ext cx="2011680" cy="2148840"/>
          </a:xfrm>
          <a:prstGeom prst="rect">
            <a:avLst/>
          </a:prstGeom>
          <a:solidFill>
            <a:srgbClr val="173F35"/>
          </a:solidFill>
          <a:ln w="12700">
            <a:solidFill>
              <a:srgbClr val="173F3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52360" y="2999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B79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575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507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outcome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09760" y="2834640"/>
            <a:ext cx="2011680" cy="214884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2640" y="2999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575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+ client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4507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Summary, actions, closure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715000"/>
            <a:ext cx="11064240" cy="475488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8247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before payment is the proposed sequence. The firm must approve it alongside hourly billing and reservation rules.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EXPERIENCE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what happens next.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Appointments, documents and advice stay connected without repeating the same content on every tab.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16936"/>
            <a:ext cx="5074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sign-in, editable contact details and service selection.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630168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with confidence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941064"/>
            <a:ext cx="5074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details, assigned lawyer and requested documents.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654296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informed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965192"/>
            <a:ext cx="5074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payment and assignment updates; a shared summary after consultation.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560320"/>
            <a:ext cx="5166360" cy="324612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816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CLIENT’S NEXT STEP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3558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confirmed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2062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documents → Meet your lawyer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Read the summary → Complete agreed actions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550468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illustration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WEBSITE &amp;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 journey, across both screens.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6459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PREVIEW</a:t>
            </a:r>
            <a:endParaRPr lang="en-US" sz="1100" dirty="0"/>
          </a:p>
        </p:txBody>
      </p:sp>
      <p:pic>
        <p:nvPicPr>
          <p:cNvPr id="8" name="Image 0" descr="/Users/pinkman/Documents/Codex/2026-09-24/continue-the-lawyer-app-demo-in/work/role-visuals/client-web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93392"/>
            <a:ext cx="7406640" cy="3969410"/>
          </a:xfrm>
          <a:prstGeom prst="rect">
            <a:avLst/>
          </a:prstGeom>
        </p:spPr>
      </p:pic>
      <p:pic>
        <p:nvPicPr>
          <p:cNvPr id="9" name="Image 1" descr="/Users/pinkman/Documents/Codex/2026-09-24/continue-the-lawyer-app-demo-in/work/role-visuals/client-mobile-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993392"/>
            <a:ext cx="2011680" cy="399227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" y="6053328"/>
            <a:ext cx="10469880" cy="301752"/>
          </a:xfrm>
          <a:prstGeom prst="rect">
            <a:avLst/>
          </a:prstGeom>
          <a:solidFill>
            <a:srgbClr val="173F35"/>
          </a:solidFill>
          <a:ln w="12700">
            <a:solidFill>
              <a:srgbClr val="173F35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8952" y="61081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service → Book → Prepare → Attend → Read the summary → Follow up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EXPERIENCE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once. Carry the advice forward.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lawyer workspace is organised around the work, not a repeated dashboard.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prepare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available times. Open assigned appointments, client context and requested documents.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 &amp; record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consultation, record internal notes and submit the outcome for office review.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&amp; follow up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client summary separately, agree the next action and retain consultation history.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64240" cy="475488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8247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Diary • Matters • Document review • Follow-ups • Availability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WEBSITE &amp;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lawyer journey, from diary to follow-up.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6459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PREVIEW</a:t>
            </a:r>
            <a:endParaRPr lang="en-US" sz="1100" dirty="0"/>
          </a:p>
        </p:txBody>
      </p:sp>
      <p:pic>
        <p:nvPicPr>
          <p:cNvPr id="8" name="Image 0" descr="/Users/pinkman/Documents/Codex/2026-09-24/continue-the-lawyer-app-demo-in/work/role-visuals/lawyer-web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93392"/>
            <a:ext cx="7406640" cy="3969410"/>
          </a:xfrm>
          <a:prstGeom prst="rect">
            <a:avLst/>
          </a:prstGeom>
        </p:spPr>
      </p:pic>
      <p:pic>
        <p:nvPicPr>
          <p:cNvPr id="9" name="Image 1" descr="/Users/pinkman/Documents/Codex/2026-09-24/continue-the-lawyer-app-demo-in/work/role-visuals/lawyer-mobile-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993392"/>
            <a:ext cx="2011680" cy="399227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" y="6053328"/>
            <a:ext cx="10469880" cy="301752"/>
          </a:xfrm>
          <a:prstGeom prst="rect">
            <a:avLst/>
          </a:prstGeom>
          <a:solidFill>
            <a:srgbClr val="173F35"/>
          </a:solidFill>
          <a:ln w="12700">
            <a:solidFill>
              <a:srgbClr val="173F35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8952" y="61081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availability → Review → Consult → Record the outcome → Share advice → Follow up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ADMINISTRATION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service, not just the inbox.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administration experience covers people, coordination and a view of firm activity.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16936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manage users and lawyers, specializations, photos and activation.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639312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950208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or reassign work, monitor progress and manage follow-up and closure.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672584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983480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sample collections, service demand and consultations by stage.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37960" y="2606040"/>
            <a:ext cx="5029200" cy="3108960"/>
          </a:xfrm>
          <a:prstGeom prst="rect">
            <a:avLst/>
          </a:prstGeom>
          <a:solidFill>
            <a:srgbClr val="173F35"/>
          </a:solidFill>
          <a:ln w="12700">
            <a:solidFill>
              <a:srgbClr val="173F3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2898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B79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QUESTIONS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502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assignment?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9593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work waiting?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4165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services are in demand?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48737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been collected?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WEBSITE &amp;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firm journey, from request to closure.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6459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PREVIEW</a:t>
            </a:r>
            <a:endParaRPr lang="en-US" sz="1100" dirty="0"/>
          </a:p>
        </p:txBody>
      </p:sp>
      <p:pic>
        <p:nvPicPr>
          <p:cNvPr id="8" name="Image 0" descr="/Users/pinkman/Documents/Codex/2026-09-24/continue-the-lawyer-app-demo-in/work/role-visuals/admin-web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93392"/>
            <a:ext cx="7406640" cy="3969410"/>
          </a:xfrm>
          <a:prstGeom prst="rect">
            <a:avLst/>
          </a:prstGeom>
        </p:spPr>
      </p:pic>
      <p:pic>
        <p:nvPicPr>
          <p:cNvPr id="9" name="Image 1" descr="/Users/pinkman/Documents/Codex/2026-09-24/continue-the-lawyer-app-demo-in/work/role-visuals/admin-mobile-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993392"/>
            <a:ext cx="2011680" cy="399227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" y="6053328"/>
            <a:ext cx="10469880" cy="301752"/>
          </a:xfrm>
          <a:prstGeom prst="rect">
            <a:avLst/>
          </a:prstGeom>
          <a:solidFill>
            <a:srgbClr val="173F35"/>
          </a:solidFill>
          <a:ln w="12700">
            <a:solidFill>
              <a:srgbClr val="173F35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8952" y="61081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requests → Assign → Track progress → Review payments and outcomes → Close or reopen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ADVICE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the advice. Control the internal record.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consultation links the documents, but does not make every note client-visible.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documents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and maintain Word, PDF and JPEG files against the booking. Track requests and review progress.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outcome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assigned lawyer records working notes and the outcome for authorised firm users.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summary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receives a separate summary, agreed actions and any follow-up requirement.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64240" cy="475488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8247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delivery requires private file storage, server-enforced access, retention rules and auditable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APPOINTMENT RULES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commercial journey before launch.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proposal includes both booking payment and an hours-based payment after consultation.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49240" cy="2450592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07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BOOKING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 or full fee?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519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when the slot is reserved and how long the client has to pay.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5349240" cy="2450592"/>
          </a:xfrm>
          <a:prstGeom prst="rect">
            <a:avLst/>
          </a:prstGeom>
          <a:solidFill>
            <a:srgbClr val="173F35"/>
          </a:solidFill>
          <a:ln w="12700">
            <a:solidFill>
              <a:srgbClr val="173F3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907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9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CONSULTATION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429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Time, rate and balance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2519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duration approval, rounding and how earlier payments are reconciled.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715000"/>
            <a:ext cx="11064240" cy="475488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8247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decide: supported currencies • cancellations and refunds • no-shows • paid follow-ups. No live charges in the demo.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INITIAL REQUIREMENTS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improvements around the core service.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OTP, profile editing, payments and account management were already requirements. These are additional workflow improvements.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B79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51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service selection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1546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uncertain visitors reach a suitable consultation.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B79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51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client summaries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31546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internal outcomes distinct from client-facing advice.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069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B79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preparation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5720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missing items and track versions and review status.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069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B79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follow-through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5720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follow-up work, approve rescheduling and check closure readiness.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SCOPE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7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demonstration to daily operation.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published experience lets the firm review journeys; it does not yet run real consultations.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experience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journeys, sample records, mock checkout and OTP, profile editing, people management and activity charts.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real services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database, private files, secure accounts, SMS, payment gateway, Meet links and reliable push reminders.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3493008" cy="2880360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7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operating controls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41148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settlement, currencies, holidays and booking cut-offs, password management, reports and Excel exports.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64240" cy="475488"/>
          </a:xfrm>
          <a:prstGeom prst="rect">
            <a:avLst/>
          </a:prstGeom>
          <a:solidFill>
            <a:srgbClr val="EFF4F0"/>
          </a:solidFill>
          <a:ln w="12700">
            <a:solidFill>
              <a:srgbClr val="EFF4F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8247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Android/iOS delivery, app-store release and production device testing remain ahead. No launch date or price is committed here.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B79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&amp; 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service. Validate the operation.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measured by complete journeys, not by the number of screens.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93008" cy="2926080"/>
          </a:xfrm>
          <a:prstGeom prst="rect">
            <a:avLst/>
          </a:prstGeom>
          <a:solidFill>
            <a:srgbClr val="245144"/>
          </a:solidFill>
          <a:ln w="12700">
            <a:solidFill>
              <a:srgbClr val="24514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B79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scope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11480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this deck and the interactive journeys. Resolve the firm decisions and approve the requirements.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493008" cy="2926080"/>
          </a:xfrm>
          <a:prstGeom prst="rect">
            <a:avLst/>
          </a:prstGeom>
          <a:solidFill>
            <a:srgbClr val="245144"/>
          </a:solidFill>
          <a:ln w="12700">
            <a:solidFill>
              <a:srgbClr val="24514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B79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end to end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411480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booking, payment outcomes, private documents, role access, reminders and follow-up with connected services.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3493008" cy="2926080"/>
          </a:xfrm>
          <a:prstGeom prst="rect">
            <a:avLst/>
          </a:prstGeom>
          <a:solidFill>
            <a:srgbClr val="245144"/>
          </a:solidFill>
          <a:ln w="12700">
            <a:solidFill>
              <a:srgbClr val="24514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2825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B79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344728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launch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411480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device testing, firm-user acceptance, backups, monitoring, training and support arrangements.</a:t>
            </a:r>
            <a:endParaRPr lang="en-US" sz="1700" dirty="0"/>
          </a:p>
        </p:txBody>
      </p:sp>
      <p:sp>
        <p:nvSpPr>
          <p:cNvPr id="19" name="Text 17">
            <a:hlinkClick r:id="rId1" tooltip=""/>
          </p:cNvPr>
          <p:cNvSpPr txBox="1"/>
          <p:nvPr/>
        </p:nvSpPr>
        <p:spPr>
          <a:xfrm>
            <a:off x="59436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B7975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interactive experience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firm. One connected service.</dc:title>
  <dc:subject>Client experience, operating model and delivery scope</dc:subject>
  <dc:creator>Lawyer App</dc:creator>
  <cp:lastModifiedBy>Lawyer App</cp:lastModifiedBy>
  <cp:revision>1</cp:revision>
  <dcterms:created xsi:type="dcterms:W3CDTF">2026-09-27T17:30:19Z</dcterms:created>
  <dcterms:modified xsi:type="dcterms:W3CDTF">2026-09-27T17:30:19Z</dcterms:modified>
</cp:coreProperties>
</file>