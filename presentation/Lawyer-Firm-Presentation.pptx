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Prepared for Suganthan. Scope reference: Online lawyer consultation mobile App development Proposal V0.3, issued 16 September 2026, functional pages 8–13. Later direction consolidates mobile roles into one app and adds a website. This presentation is not a cost or delivery-date commitment.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requirements pp8–9. Demo includes mock OTP, contact edits, synthetic booking and mock payment, in-app alerts and local document records. Live SMS, file storage, actual payment and background reminders are not implemented.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Charts in the demo use synthetic browser-local data. Production reports and Excel exports remain in scope and are not complete.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Additional demo refinements, not claims that these are original vendor requirements. Firm performance visualisations are an owner-requested enhancement to the original dashboard and reports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proposal: page 8. Functional scope verified against the original 16-page proposal. Technology, vendor pricing, timeline and contract terms on pages 14–16 have not been adopted. Later directions are explicitly labelled.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proposal: page 9. Functional scope verified against the original 16-page proposal. Technology, vendor pricing, timeline and contract terms on pages 14–16 have not been adopted. Later directions are explicitly labelled.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proposal: page 10. Functional scope verified against the original 16-page proposal. Technology, vendor pricing, timeline and contract terms on pages 14–16 have not been adopted. Later directions are explicitly labelled.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proposal: page 11. Functional scope verified against the original 16-page proposal. Technology, vendor pricing, timeline and contract terms on pages 14–16 have not been adopted. Later directions are explicitly labelled.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proposal: pages 11–12. Functional scope verified against the original 16-page proposal. Technology, vendor pricing, timeline and contract terms on pages 14–16 have not been adopted. Later directions are explicitly labelled.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proposal: page 13. Functional scope verified against the original 16-page proposal. Technology, vendor pricing, timeline and contract terms on pages 14–16 have not been adopted. Later directions are explicitly labelled.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ezhilan03.github.io/lawyer-app-demo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ezhilan03.github.io/lawyer-app-demo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EXPERIENCE &amp; DELIVERY SCOPE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firm.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connected service.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78892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DDE8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question to the final follow-up.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79476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website and one role-based app for clients, lawyers and the firm.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0" y="2331720"/>
            <a:ext cx="2834640" cy="731520"/>
          </a:xfrm>
          <a:prstGeom prst="rect">
            <a:avLst/>
          </a:prstGeom>
          <a:solidFill>
            <a:srgbClr val="245144"/>
          </a:solidFill>
          <a:ln w="12700">
            <a:solidFill>
              <a:srgbClr val="245144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0392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0" y="3337560"/>
            <a:ext cx="2834640" cy="731520"/>
          </a:xfrm>
          <a:prstGeom prst="rect">
            <a:avLst/>
          </a:prstGeom>
          <a:solidFill>
            <a:srgbClr val="245144"/>
          </a:solidFill>
          <a:ln w="12700">
            <a:solidFill>
              <a:srgbClr val="245144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03920" y="3566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0" y="4343400"/>
            <a:ext cx="2834640" cy="731520"/>
          </a:xfrm>
          <a:prstGeom prst="rect">
            <a:avLst/>
          </a:prstGeom>
          <a:solidFill>
            <a:srgbClr val="245144"/>
          </a:solidFill>
          <a:ln w="12700">
            <a:solidFill>
              <a:srgbClr val="245144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</a:t>
            </a:r>
            <a:endParaRPr lang="en-US" sz="1700" dirty="0"/>
          </a:p>
        </p:txBody>
      </p:sp>
      <p:sp>
        <p:nvSpPr>
          <p:cNvPr id="14" name="Text 12">
            <a:hlinkClick r:id="rId1" tooltip=""/>
          </p:cNvPr>
          <p:cNvSpPr txBox="1"/>
          <p:nvPr/>
        </p:nvSpPr>
        <p:spPr>
          <a:xfrm>
            <a:off x="594360" y="53675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u="sng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Explore the interactive experience →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SERVICE MODEL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roles. One continuous relationship.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website starts the relationship. The workspaces carry it forward.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service, arrange a consultation, prepare documents and understand the next step.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285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availability, prepare for appointments, record outcomes and follow through.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13816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761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firm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people, assignments, payments and service quality from one operating view.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715000"/>
            <a:ext cx="11064240" cy="475488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8247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scope: website + Android/iOS app + firm administration. Current release: an interactive browser demonstration.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OPERATING JOURNEY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clear owner at every handover.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consultation record connects the request, appointment, documents and follow-up.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2011680" cy="214884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999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57530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60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5079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Service, time, reason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88920" y="2834640"/>
            <a:ext cx="2011680" cy="214884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999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357530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4160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45079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 and reservation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0" y="2834640"/>
            <a:ext cx="2011680" cy="214884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2080" y="2999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5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57530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4160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45079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and payment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269480" y="2834640"/>
            <a:ext cx="2011680" cy="2148840"/>
          </a:xfrm>
          <a:prstGeom prst="rect">
            <a:avLst/>
          </a:prstGeom>
          <a:solidFill>
            <a:srgbClr val="173F35"/>
          </a:solidFill>
          <a:ln w="12700">
            <a:solidFill>
              <a:srgbClr val="173F35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52360" y="2999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5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357530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</a:t>
            </a:r>
            <a:endParaRPr lang="en-US" sz="2100" dirty="0"/>
          </a:p>
        </p:txBody>
      </p:sp>
      <p:sp>
        <p:nvSpPr>
          <p:cNvPr id="25" name="Text 23"/>
          <p:cNvSpPr txBox="1"/>
          <p:nvPr/>
        </p:nvSpPr>
        <p:spPr>
          <a:xfrm>
            <a:off x="7452360" y="4160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45079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outcome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509760" y="2834640"/>
            <a:ext cx="2011680" cy="214884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92640" y="2999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5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0" y="357530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0" y="4160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 + client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692640" y="45079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Summary, actions, closure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5715000"/>
            <a:ext cx="11064240" cy="475488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58247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 before payment is the proposed sequence. The firm must approve it alongside hourly billing and reservation rules.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EXPERIENCE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what happens next.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Appointments, documents and advice stay connected without repeating the same content on every tab.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06040"/>
            <a:ext cx="5074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916936"/>
            <a:ext cx="5074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sign-in, editable contact details and service selection.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630168"/>
            <a:ext cx="5074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with confidence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41064"/>
            <a:ext cx="5074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details, assigned lawyer and requested documents.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654296"/>
            <a:ext cx="5074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informed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965192"/>
            <a:ext cx="5074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Booking, payment and assignment updates; a shared summary after consultation.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0" y="2560320"/>
            <a:ext cx="5166360" cy="324612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28163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CLIENT’S NEXT STEP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35584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Appointment confirmed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420624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documents → Meet your lawyer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Read the summary → Complete agreed actions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550468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illustration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 EXPERIENCE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Prepare once. Carry the advice forward.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lawyer workspace is organised around the work, not a repeated dashboard.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&amp; prepare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available times. Open assigned appointments, client context and requested documents.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285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During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 &amp; record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consultation, record internal notes and submit the outcome for office review.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13816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761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Summarise &amp; follow up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the client summary separately, agree the next action and retain consultation history.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715000"/>
            <a:ext cx="11064240" cy="475488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8247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Diary • Matters • Document review • Follow-ups • Availability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 ADMINISTRATION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service, not just the inbox.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administration experience covers people, coordination and a view of firm activity.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06040"/>
            <a:ext cx="5212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916936"/>
            <a:ext cx="5212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and manage users and lawyers, specializations, photos and activation.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639312"/>
            <a:ext cx="5212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50208"/>
            <a:ext cx="5212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or reassign work, monitor progress and manage follow-up and closure.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672584"/>
            <a:ext cx="5212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Oversight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983480"/>
            <a:ext cx="5212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sample collections, service demand and consultations by stage.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37960" y="2606040"/>
            <a:ext cx="5029200" cy="3108960"/>
          </a:xfrm>
          <a:prstGeom prst="rect">
            <a:avLst/>
          </a:prstGeom>
          <a:solidFill>
            <a:srgbClr val="173F35"/>
          </a:solidFill>
          <a:ln w="12700">
            <a:solidFill>
              <a:srgbClr val="173F35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12280" y="28986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QUESTIONS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35021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needs assignment?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39593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work waiting?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44165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services are in demand?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48737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has been collected?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ADVICE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the advice. Control the internal record.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consultation links the documents, but does not make every note client-visible.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documents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and maintain Word, PDF and JPEG files against the booking. Track requests and review progress.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285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outcome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assigned lawyer records working notes and the outcome for authorised firm users.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13816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761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summary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receives a separate summary, agreed actions and any follow-up requirement.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715000"/>
            <a:ext cx="11064240" cy="475488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8247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delivery requires private file storage, server-enforced access, retention rules and auditable changes.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&amp; APPOINTMENT RULES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 the commercial journey before launch.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 proposal includes both booking payment and an hours-based payment after consultation.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349240" cy="2450592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9077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BOOKING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290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Deposit or full fee?</a:t>
            </a:r>
            <a:endParaRPr lang="en-US" sz="29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5196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when the slot is reserved and how long the client has to pay.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17920" y="2651760"/>
            <a:ext cx="5349240" cy="2450592"/>
          </a:xfrm>
          <a:prstGeom prst="rect">
            <a:avLst/>
          </a:prstGeom>
          <a:solidFill>
            <a:srgbClr val="173F35"/>
          </a:solidFill>
          <a:ln w="12700">
            <a:solidFill>
              <a:srgbClr val="173F35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29077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CONSULTATION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34290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Time, rate and balance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5196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duration approval, rounding and how earlier payments are reconciled.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5715000"/>
            <a:ext cx="11064240" cy="475488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8247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decide: supported currencies • cancellations and refunds • no-shows • paid follow-ups. No live charges in the demo.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 INITIAL REQUIREMENTS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Useful improvements around the core service.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OTP, profile editing, payments and account management were already requirements. These are additional workflow improvements.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5176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517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service selection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15468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uncertain visitors reach a suitable consultation.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65176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26517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client summaries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315468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internal outcomes distinct from client-facing advice.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6908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069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preparation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57200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missing items and track versions and review status.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4069080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4069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follow-through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457200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follow-up work, approve rescheduling and check closure readiness.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SCOPE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demonstration to daily operation.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published experience lets the firm review journeys; it does not yet run real consultations.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experience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journeys, sample records, mock checkout and OTP, profile editing, people management and activity charts.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285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real services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database, private files, secure accounts, SMS, payment gateway, Meet links and reliable push reminders.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138160" y="2606040"/>
            <a:ext cx="3493008" cy="2880360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761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73F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operating controls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4114800"/>
            <a:ext cx="30540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 settlement, currencies, holidays and booking cut-offs, password management, reports and Excel exports.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715000"/>
            <a:ext cx="11064240" cy="475488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8247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Android/iOS delivery, app-store release and production device testing remain ahead. No launch date or price is committed here.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 DECISIONS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decisions that shape delivery.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these rules before detailed implementation and commercial estimation.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60320"/>
            <a:ext cx="5212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 &amp; settlement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871216"/>
            <a:ext cx="5212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sets prices? Deposit or full fee? How are hours and balances approved?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602736"/>
            <a:ext cx="5212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&amp; availability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13632"/>
            <a:ext cx="5212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chooses the lawyer? Which status changes need admin approval?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645152"/>
            <a:ext cx="5212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policies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956048"/>
            <a:ext cx="5212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Cancellation, rescheduling, no-shows, paid follow-up and reservation expiry.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560320"/>
            <a:ext cx="5212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markets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871216"/>
            <a:ext cx="5212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Countries, phone codes, currencies and settlement requirements.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3602736"/>
            <a:ext cx="5212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&amp; records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3913632"/>
            <a:ext cx="5212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sees notes and files? What changes after reassignment? Retention rules.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4645152"/>
            <a:ext cx="5212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 identity &amp; launch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4956048"/>
            <a:ext cx="52120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Branding, lawyer credentials, support number, accounts and initial users.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3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&amp; NEXT STEPS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the service. Validate the operation.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is measured by complete journeys, not by the number of screens.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3493008" cy="2926080"/>
          </a:xfrm>
          <a:prstGeom prst="rect">
            <a:avLst/>
          </a:prstGeom>
          <a:solidFill>
            <a:srgbClr val="245144"/>
          </a:solidFill>
          <a:ln w="12700">
            <a:solidFill>
              <a:srgbClr val="245144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scope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114800"/>
            <a:ext cx="30540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this deck and the interactive journeys. Resolve the firm decisions and approve the requirements.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493008" cy="2926080"/>
          </a:xfrm>
          <a:prstGeom prst="rect">
            <a:avLst/>
          </a:prstGeom>
          <a:solidFill>
            <a:srgbClr val="245144"/>
          </a:solidFill>
          <a:ln w="12700">
            <a:solidFill>
              <a:srgbClr val="245144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6285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end to end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562856" y="4114800"/>
            <a:ext cx="30540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booking, payment outcomes, private documents, role access, reminders and follow-up with connected services.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138160" y="2606040"/>
            <a:ext cx="3493008" cy="2926080"/>
          </a:xfrm>
          <a:prstGeom prst="rect">
            <a:avLst/>
          </a:prstGeom>
          <a:solidFill>
            <a:srgbClr val="245144"/>
          </a:solidFill>
          <a:ln w="12700">
            <a:solidFill>
              <a:srgbClr val="245144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7616" y="2825496"/>
            <a:ext cx="3054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B797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344728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launch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4114800"/>
            <a:ext cx="30540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D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device testing, firm-user acceptance, backups, monitoring, training and support arrangements.</a:t>
            </a:r>
            <a:endParaRPr lang="en-US" sz="1700" dirty="0"/>
          </a:p>
        </p:txBody>
      </p:sp>
      <p:sp>
        <p:nvSpPr>
          <p:cNvPr id="19" name="Text 17">
            <a:hlinkClick r:id="rId1" tooltip=""/>
          </p:cNvPr>
          <p:cNvSpPr txBox="1"/>
          <p:nvPr/>
        </p:nvSpPr>
        <p:spPr>
          <a:xfrm>
            <a:off x="594360" y="5897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u="sng" dirty="0">
                <a:solidFill>
                  <a:srgbClr val="B7975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interactive experience →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REFERENCE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access &amp; booking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proposal: page 8 • Current demonstration versus remaining delivery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14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514600"/>
            <a:ext cx="2862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DEMONSTRATION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028432" y="2514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DELIVERY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30068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880360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signup/login and SMS OTP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880360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verification flow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028432" y="2880360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SMS and secure sessions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28416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Profile: name, email and contact details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3328416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local profile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28432" y="3328416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account storage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26180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3776472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Home, services and lawyer name/experience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3776472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service discovery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28432" y="3776472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 details; lawyer experience content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24528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consultations; date and time selection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224528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services and slots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28432" y="4224528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availability and booking rules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622292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4672584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Reason, additional notes and fee display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4672584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Captured in sample request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028432" y="4672584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fee rules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5120640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Confirmation, one payment gateway, booking details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5120640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payment and booking record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028432" y="5120640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and reliable payment updates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518404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5568696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Confirmed, awaiting assignment, assigned, completed, follow-up, closed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5568696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lifecycle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028432" y="5568696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admin status authority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6071616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rows remain in scope; a demonstration is not production completion.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REFERENCE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appointments &amp; records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proposal: page 9 • Current demonstration versus remaining delivery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14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514600"/>
            <a:ext cx="2862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DEMONSTRATION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028432" y="2514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DELIVERY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30068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880360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Assigned lawyer, service, confirmed date/time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880360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Shown on sample consultation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028432" y="2880360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Server-backed assignments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28416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Admin-added/generated Meet link; one-day reminder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3328416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placeholder only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28432" y="3328416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link and scheduled reminders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26180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3776472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Post-consultation pricing by hours; payment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3776472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implemented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28432" y="3776472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 approval and settlement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24528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Word/PDF/JPEG files tied to booking ID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224528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document records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28432" y="4224528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upload and private storage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622292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4672584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View, delete and replace files before consultation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4672584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record controls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028432" y="4672584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file access and lifecycle rules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5120640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Upcoming/completed consultations; booking history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5120640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consultation history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028432" y="5120640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cross-device history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518404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5568696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Booking/payment/assignment/reminder push; support; logout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5568696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alerts and demo sign-out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028432" y="5568696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push; firm support number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6071616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rows remain in scope; a demonstration is not production completion.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REFERENCE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Lawyer access &amp; consultation work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proposal: page 10 • Current demonstration versus remaining delivery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14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514600"/>
            <a:ext cx="2862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DEMONSTRATION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028432" y="2514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DELIVERY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30068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880360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Admin-created login; profile; password change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880360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selector; admin-managed details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028432" y="2880360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Credentials, self-profile and password flow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28416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Dashboard: today’s consultations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3328416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priorities and diary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28432" y="3328416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 and date-aware operations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26180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3776472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Assigned client: contact, service, files, time, status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3776472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assigned records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28432" y="3776472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Server-enforced assignment access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24528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Upcoming/past appointments; detail and notifications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224528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diary and in-app alerts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28432" y="4224528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Reliable delivery and persistent history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622292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4672584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client documents; Meet date/time and reminders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4672584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records and meeting details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028432" y="4672584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files; real Meet/reminders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5120640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Start/in-progress, notes, complete, follow-up and next appointment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5120640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workflow actions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028432" y="5120640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status-change approvals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518404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5568696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consultation outcome to admin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5568696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internal outcome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028432" y="5568696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Authorised storage and audit trail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6071616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rows remain in scope; a demonstration is not production completion.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REFERENCE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Lawyer continuity &amp; office access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proposal: page 11 • Current demonstration versus remaining delivery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14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514600"/>
            <a:ext cx="2862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DEMONSTRATION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028432" y="2514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DELIVERY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30068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880360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Assigned-client history: appointments, documents, notes, statuses, follow-up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880360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linked records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028432" y="2880360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history with access rules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28416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Assignment, appointment, reminder, new-file and follow-up alerts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3328416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event notifications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28432" y="3328416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Reliable push and scheduled reminders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26180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3776472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 logout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3776472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sign-out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28432" y="3776472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session invalidation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24528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login with single access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224528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admin workspace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28432" y="4224528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admin account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622292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4672584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Dashboard: registered users, lawyers, new bookings, pending assignment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4672584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lists and selected metrics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028432" y="4672584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dashboard count set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5120640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Dashboard: today/upcoming/completed; total collection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5120640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diary/status/payment views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028432" y="5120640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time-based metrics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518404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5568696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Add/view/manage users; activate/deactivate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5568696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account management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028432" y="5568696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persistent administration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6071616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rows remain in scope; a demonstration is not production completion.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REFERENCE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 people, services &amp; scheduling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proposal: pages 11–12 • Current demonstration versus remaining delivery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14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514600"/>
            <a:ext cx="2862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DEMONSTRATION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028432" y="2514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DELIVERY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30068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880360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Add/edit lawyer, specialization, photo, contacts, activation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880360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lawyer management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028432" y="2880360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profiles and private media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28416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 assigned clients and consultation history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3328416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assigned matters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28432" y="3328416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history and access policy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26180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3776472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category, duration, fee, active/inactive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3776472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sample services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28432" y="3776472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Service-management controls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24528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Create/manage slots; block dates/times; holidays; cut-off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224528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Lawyer sample availability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28432" y="4224528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scheduling policy and full controls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622292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4672584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bookings; assign/reassign; update status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4672584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coordination workflow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028432" y="4672584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operations and permissions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5120640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Create/add Meet; link/share to client and lawyer; date/time/reminders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5120640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placeholders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028432" y="5120640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Meet integration and reminder jobs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518404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5568696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User-wise document view/download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5568696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Booking-linked sample records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028432" y="5568696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User-wise file access and downloads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6071616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rows remain in scope; a demonstration is not production completion.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REFERENCE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73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 oversight &amp; reporting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562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proposal: page 13 • Current demonstration versus remaining delivery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FIRM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64008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14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514600"/>
            <a:ext cx="2862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DEMONSTRATION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028432" y="2514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73F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DELIVERY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30068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880360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all payments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880360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payment register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028432" y="2880360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reconciliation and audit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28416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Ongoing/completed work; lawyer updates and permitted notes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3328416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consultation oversight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28432" y="3328416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Server-side permissions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726180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3776472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follow-up; close and reopen consultation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3776472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 sample follow-up and closure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28432" y="3776472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audit and approved rules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24528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Booking, assignment, meeting, reminder and follow-up push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4224528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event alerts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28432" y="4224528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push and reminder delivery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622292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4672584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User, lawyer, booking and payment reports; Excel export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4672584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charts; no full report suite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028432" y="4672584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and Excel export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5120640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direction: website + one Android/iOS role-based app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5120640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browser demonstration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028432" y="5120640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apps and shared backend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518404"/>
            <a:ext cx="11064240" cy="443484"/>
          </a:xfrm>
          <a:prstGeom prst="rect">
            <a:avLst/>
          </a:prstGeom>
          <a:solidFill>
            <a:srgbClr val="EFF4F0"/>
          </a:solidFill>
          <a:ln w="12700">
            <a:solidFill>
              <a:srgbClr val="EFF4F0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5568696"/>
            <a:ext cx="4114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direction: lawyer-managed availability; multiple currencies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5568696"/>
            <a:ext cx="2862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availability; INR-only amounts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028432" y="5568696"/>
            <a:ext cx="3520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 rules and currency support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6071616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6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rows remain in scope; a demonstration is not production completion.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firm. One connected service.</dc:title>
  <dc:subject>Client experience, operating model and delivery scope</dc:subject>
  <dc:creator>Lawyer App</dc:creator>
  <cp:lastModifiedBy>Lawyer App</cp:lastModifiedBy>
  <cp:revision>1</cp:revision>
  <dcterms:created xsi:type="dcterms:W3CDTF">2026-09-27T17:16:36Z</dcterms:created>
  <dcterms:modified xsi:type="dcterms:W3CDTF">2026-09-27T17:16:36Z</dcterms:modified>
</cp:coreProperties>
</file>