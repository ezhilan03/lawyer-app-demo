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</p:sldIdLst>
  <p:notesMasterIdLst>
    <p:notesMasterId r:id="rId16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notesMaster" Target="notesMasters/notesMaster1.xml"/><Relationship Id="rId17" Type="http://schemas.openxmlformats.org/officeDocument/2006/relationships/presProps" Target="presProps.xml"/><Relationship Id="rId18" Type="http://schemas.openxmlformats.org/officeDocument/2006/relationships/viewProps" Target="viewProps.xml"/><Relationship Id="rId19" Type="http://schemas.openxmlformats.org/officeDocument/2006/relationships/theme" Target="theme/theme1.xml"/><Relationship Id="rId20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Prepared for Suganthan. Scope reference: Online lawyer consultation mobile App development Proposal V0.3, issued 16 September 2026, functional pages 8–13. Later direction consolidates mobile roles into one app and adds a website. This presentation is not a cost or delivery-date commitment.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Original requirements pp8–9. Demo includes mock OTP, contact edits, synthetic booking and mock payment, in-app alerts and local document records. Live SMS, file storage, actual payment and background reminders are not implemented.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Actual browser screenshots of the published synthetic demonstration: website and 390px mobile-app preview. Browser-local sample records; native mobile apps are not yet released. Workflow labels are editable text.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Actual browser screenshots of the published synthetic demonstration: website and 390px mobile-app preview. Browser-local sample records; native mobile apps are not yet released. Workflow labels are editable text.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Charts in the demo use synthetic browser-local data. Production reports and Excel exports remain in scope and are not complete.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Actual browser screenshots of the published synthetic demonstration: website and 390px mobile-app preview. Browser-local sample records; native mobile apps are not yet released. Workflow labels are editable text.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Additional demo refinements, not claims that these are original vendor requirements. Firm performance visualisations are an owner-requested enhancement to the original dashboard and reports scope.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hyperlink" Target="https://ezhilan03.github.io/lawyer-app-demo/" TargetMode="Externa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image" Target="../media/image-5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image" Target="../media/image-7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image" Target="../media/image-9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hyperlink" Target="https://ezhilan03.github.io/lawyer-app-demo/" TargetMode="Externa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4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73F3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47472"/>
            <a:ext cx="10058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spc="180" kern="0" dirty="0">
                <a:solidFill>
                  <a:srgbClr val="B7975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SERVICE EXPERIENCE &amp; DELIVERY SCOPE</a:t>
            </a:r>
            <a:endParaRPr lang="en-US" sz="10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868680"/>
            <a:ext cx="1106424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400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Your firm.</a:t>
            </a:r>
            <a:endParaRPr lang="en-US" sz="3400" dirty="0"/>
          </a:p>
          <a:p>
            <a:pPr indent="0" marL="0">
              <a:buNone/>
            </a:pPr>
            <a:r>
              <a:rPr lang="en-US" sz="3400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One connected service.</a:t>
            </a:r>
            <a:endParaRPr lang="en-US" sz="34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6419088"/>
            <a:ext cx="7315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spc="100" kern="0" dirty="0">
                <a:solidFill>
                  <a:srgbClr val="DDE8E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YOUR FIRM</a:t>
            </a:r>
            <a:endParaRPr lang="en-US" sz="900" dirty="0"/>
          </a:p>
        </p:txBody>
      </p:sp>
      <p:sp>
        <p:nvSpPr>
          <p:cNvPr id="5" name="Text 3"/>
          <p:cNvSpPr txBox="1"/>
          <p:nvPr/>
        </p:nvSpPr>
        <p:spPr>
          <a:xfrm>
            <a:off x="10972800" y="6400800"/>
            <a:ext cx="5943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000" dirty="0">
                <a:solidFill>
                  <a:srgbClr val="DDE8E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01</a:t>
            </a:r>
            <a:endParaRPr lang="en-US" sz="1000" dirty="0"/>
          </a:p>
        </p:txBody>
      </p:sp>
      <p:sp>
        <p:nvSpPr>
          <p:cNvPr id="6" name="Text 4"/>
          <p:cNvSpPr txBox="1"/>
          <p:nvPr/>
        </p:nvSpPr>
        <p:spPr>
          <a:xfrm>
            <a:off x="594360" y="2788920"/>
            <a:ext cx="67665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600" dirty="0">
                <a:solidFill>
                  <a:srgbClr val="DDE8E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From the first question to the final follow-up.</a:t>
            </a:r>
            <a:endParaRPr lang="en-US" sz="2600" dirty="0"/>
          </a:p>
        </p:txBody>
      </p:sp>
      <p:sp>
        <p:nvSpPr>
          <p:cNvPr id="7" name="Text 5"/>
          <p:cNvSpPr txBox="1"/>
          <p:nvPr/>
        </p:nvSpPr>
        <p:spPr>
          <a:xfrm>
            <a:off x="594360" y="3794760"/>
            <a:ext cx="585216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website and one role-based app for clients, lawyers and the firm.</a:t>
            </a:r>
            <a:endParaRPr lang="en-US" sz="2000" dirty="0"/>
          </a:p>
        </p:txBody>
      </p:sp>
      <p:sp>
        <p:nvSpPr>
          <p:cNvPr id="8" name="Shape 6"/>
          <p:cNvSpPr/>
          <p:nvPr/>
        </p:nvSpPr>
        <p:spPr>
          <a:xfrm>
            <a:off x="8229600" y="2331720"/>
            <a:ext cx="2834640" cy="731520"/>
          </a:xfrm>
          <a:prstGeom prst="rect">
            <a:avLst/>
          </a:prstGeom>
          <a:solidFill>
            <a:srgbClr val="245144"/>
          </a:solidFill>
          <a:ln w="12700">
            <a:solidFill>
              <a:srgbClr val="245144">
                <a:alpha val="0"/>
              </a:srgbClr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8503920" y="2560320"/>
            <a:ext cx="2286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CLIENT</a:t>
            </a:r>
            <a:endParaRPr lang="en-US" sz="1700" dirty="0"/>
          </a:p>
        </p:txBody>
      </p:sp>
      <p:sp>
        <p:nvSpPr>
          <p:cNvPr id="10" name="Shape 8"/>
          <p:cNvSpPr/>
          <p:nvPr/>
        </p:nvSpPr>
        <p:spPr>
          <a:xfrm>
            <a:off x="8229600" y="3337560"/>
            <a:ext cx="2834640" cy="731520"/>
          </a:xfrm>
          <a:prstGeom prst="rect">
            <a:avLst/>
          </a:prstGeom>
          <a:solidFill>
            <a:srgbClr val="245144"/>
          </a:solidFill>
          <a:ln w="12700">
            <a:solidFill>
              <a:srgbClr val="245144">
                <a:alpha val="0"/>
              </a:srgbClr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8503920" y="3566160"/>
            <a:ext cx="2286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LAWYER</a:t>
            </a:r>
            <a:endParaRPr lang="en-US" sz="1700" dirty="0"/>
          </a:p>
        </p:txBody>
      </p:sp>
      <p:sp>
        <p:nvSpPr>
          <p:cNvPr id="12" name="Shape 10"/>
          <p:cNvSpPr/>
          <p:nvPr/>
        </p:nvSpPr>
        <p:spPr>
          <a:xfrm>
            <a:off x="8229600" y="4343400"/>
            <a:ext cx="2834640" cy="731520"/>
          </a:xfrm>
          <a:prstGeom prst="rect">
            <a:avLst/>
          </a:prstGeom>
          <a:solidFill>
            <a:srgbClr val="245144"/>
          </a:solidFill>
          <a:ln w="12700">
            <a:solidFill>
              <a:srgbClr val="245144">
                <a:alpha val="0"/>
              </a:srgbClr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8503920" y="4572000"/>
            <a:ext cx="2286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FIRM</a:t>
            </a:r>
            <a:endParaRPr lang="en-US" sz="1700" dirty="0"/>
          </a:p>
        </p:txBody>
      </p:sp>
      <p:sp>
        <p:nvSpPr>
          <p:cNvPr id="14" name="Text 12">
            <a:hlinkClick r:id="rId1" tooltip=""/>
          </p:cNvPr>
          <p:cNvSpPr txBox="1"/>
          <p:nvPr/>
        </p:nvSpPr>
        <p:spPr>
          <a:xfrm>
            <a:off x="594360" y="5367528"/>
            <a:ext cx="6400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u="sng" dirty="0">
                <a:solidFill>
                  <a:srgbClr val="B79756"/>
                </a:solidFill>
                <a:latin typeface="Arial" pitchFamily="34" charset="0"/>
                <a:ea typeface="Arial" pitchFamily="34" charset="-122"/>
                <a:cs typeface="Arial" pitchFamily="34" charset="-120"/>
                <a:hlinkClick r:id="rId1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Explore the interactive experience →</a:t>
            </a:r>
            <a:endParaRPr lang="en-US" sz="16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47472"/>
            <a:ext cx="10058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spc="180" kern="0" dirty="0">
                <a:solidFill>
                  <a:srgbClr val="52655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SERVICE MODEL</a:t>
            </a:r>
            <a:endParaRPr lang="en-US" sz="10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868680"/>
            <a:ext cx="1106424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400" dirty="0">
                <a:solidFill>
                  <a:srgbClr val="17362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Three roles. One continuous relationship.</a:t>
            </a:r>
            <a:endParaRPr lang="en-US" sz="3400" dirty="0"/>
          </a:p>
        </p:txBody>
      </p:sp>
      <p:sp>
        <p:nvSpPr>
          <p:cNvPr id="4" name="Text 2"/>
          <p:cNvSpPr txBox="1"/>
          <p:nvPr/>
        </p:nvSpPr>
        <p:spPr>
          <a:xfrm>
            <a:off x="566928" y="1856232"/>
            <a:ext cx="107899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52655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website starts the relationship. The workspaces carry it forward.</a:t>
            </a:r>
            <a:endParaRPr lang="en-US" sz="160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6419088"/>
            <a:ext cx="7315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spc="100" kern="0" dirty="0">
                <a:solidFill>
                  <a:srgbClr val="52655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YOUR FIRM</a:t>
            </a:r>
            <a:endParaRPr lang="en-US" sz="900" dirty="0"/>
          </a:p>
        </p:txBody>
      </p:sp>
      <p:sp>
        <p:nvSpPr>
          <p:cNvPr id="6" name="Text 4"/>
          <p:cNvSpPr txBox="1"/>
          <p:nvPr/>
        </p:nvSpPr>
        <p:spPr>
          <a:xfrm>
            <a:off x="10972800" y="6400800"/>
            <a:ext cx="5943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000" dirty="0">
                <a:solidFill>
                  <a:srgbClr val="52655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02</a:t>
            </a:r>
            <a:endParaRPr lang="en-US" sz="1000" dirty="0"/>
          </a:p>
        </p:txBody>
      </p:sp>
      <p:sp>
        <p:nvSpPr>
          <p:cNvPr id="7" name="Shape 5"/>
          <p:cNvSpPr/>
          <p:nvPr/>
        </p:nvSpPr>
        <p:spPr>
          <a:xfrm>
            <a:off x="548640" y="2606040"/>
            <a:ext cx="3493008" cy="2880360"/>
          </a:xfrm>
          <a:prstGeom prst="rect">
            <a:avLst/>
          </a:prstGeom>
          <a:solidFill>
            <a:srgbClr val="EFF4F0"/>
          </a:solidFill>
          <a:ln w="12700">
            <a:solidFill>
              <a:srgbClr val="EFF4F0">
                <a:alpha val="0"/>
              </a:srgbClr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768096" y="2825496"/>
            <a:ext cx="3054096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500" dirty="0">
                <a:solidFill>
                  <a:srgbClr val="173F35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01</a:t>
            </a:r>
            <a:endParaRPr lang="en-US" sz="2500" dirty="0"/>
          </a:p>
        </p:txBody>
      </p:sp>
      <p:sp>
        <p:nvSpPr>
          <p:cNvPr id="9" name="Text 7"/>
          <p:cNvSpPr txBox="1"/>
          <p:nvPr/>
        </p:nvSpPr>
        <p:spPr>
          <a:xfrm>
            <a:off x="768096" y="3447288"/>
            <a:ext cx="3054096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b="1" dirty="0">
                <a:solidFill>
                  <a:srgbClr val="17362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Clients</a:t>
            </a:r>
            <a:endParaRPr lang="en-US" sz="2200" dirty="0"/>
          </a:p>
        </p:txBody>
      </p:sp>
      <p:sp>
        <p:nvSpPr>
          <p:cNvPr id="10" name="Text 8"/>
          <p:cNvSpPr txBox="1"/>
          <p:nvPr/>
        </p:nvSpPr>
        <p:spPr>
          <a:xfrm>
            <a:off x="768096" y="4114800"/>
            <a:ext cx="3054096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dirty="0">
                <a:solidFill>
                  <a:srgbClr val="52655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Choose a service, arrange a consultation, prepare documents and understand the next step.</a:t>
            </a:r>
            <a:endParaRPr lang="en-US" sz="1700" dirty="0"/>
          </a:p>
        </p:txBody>
      </p:sp>
      <p:sp>
        <p:nvSpPr>
          <p:cNvPr id="11" name="Shape 9"/>
          <p:cNvSpPr/>
          <p:nvPr/>
        </p:nvSpPr>
        <p:spPr>
          <a:xfrm>
            <a:off x="4343400" y="2606040"/>
            <a:ext cx="3493008" cy="2880360"/>
          </a:xfrm>
          <a:prstGeom prst="rect">
            <a:avLst/>
          </a:prstGeom>
          <a:solidFill>
            <a:srgbClr val="EFF4F0"/>
          </a:solidFill>
          <a:ln w="12700">
            <a:solidFill>
              <a:srgbClr val="EFF4F0">
                <a:alpha val="0"/>
              </a:srgbClr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4562856" y="2825496"/>
            <a:ext cx="3054096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500" dirty="0">
                <a:solidFill>
                  <a:srgbClr val="173F35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02</a:t>
            </a:r>
            <a:endParaRPr lang="en-US" sz="2500" dirty="0"/>
          </a:p>
        </p:txBody>
      </p:sp>
      <p:sp>
        <p:nvSpPr>
          <p:cNvPr id="13" name="Text 11"/>
          <p:cNvSpPr txBox="1"/>
          <p:nvPr/>
        </p:nvSpPr>
        <p:spPr>
          <a:xfrm>
            <a:off x="4562856" y="3447288"/>
            <a:ext cx="3054096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b="1" dirty="0">
                <a:solidFill>
                  <a:srgbClr val="17362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Lawyers</a:t>
            </a:r>
            <a:endParaRPr lang="en-US" sz="2200" dirty="0"/>
          </a:p>
        </p:txBody>
      </p:sp>
      <p:sp>
        <p:nvSpPr>
          <p:cNvPr id="14" name="Text 12"/>
          <p:cNvSpPr txBox="1"/>
          <p:nvPr/>
        </p:nvSpPr>
        <p:spPr>
          <a:xfrm>
            <a:off x="4562856" y="4114800"/>
            <a:ext cx="3054096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dirty="0">
                <a:solidFill>
                  <a:srgbClr val="52655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Manage availability, prepare for appointments, record outcomes and follow through.</a:t>
            </a:r>
            <a:endParaRPr lang="en-US" sz="1700" dirty="0"/>
          </a:p>
        </p:txBody>
      </p:sp>
      <p:sp>
        <p:nvSpPr>
          <p:cNvPr id="15" name="Shape 13"/>
          <p:cNvSpPr/>
          <p:nvPr/>
        </p:nvSpPr>
        <p:spPr>
          <a:xfrm>
            <a:off x="8138160" y="2606040"/>
            <a:ext cx="3493008" cy="2880360"/>
          </a:xfrm>
          <a:prstGeom prst="rect">
            <a:avLst/>
          </a:prstGeom>
          <a:solidFill>
            <a:srgbClr val="EFF4F0"/>
          </a:solidFill>
          <a:ln w="12700">
            <a:solidFill>
              <a:srgbClr val="EFF4F0">
                <a:alpha val="0"/>
              </a:srgbClr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8357616" y="2825496"/>
            <a:ext cx="3054096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500" dirty="0">
                <a:solidFill>
                  <a:srgbClr val="173F35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03</a:t>
            </a:r>
            <a:endParaRPr lang="en-US" sz="2500" dirty="0"/>
          </a:p>
        </p:txBody>
      </p:sp>
      <p:sp>
        <p:nvSpPr>
          <p:cNvPr id="17" name="Text 15"/>
          <p:cNvSpPr txBox="1"/>
          <p:nvPr/>
        </p:nvSpPr>
        <p:spPr>
          <a:xfrm>
            <a:off x="8357616" y="3447288"/>
            <a:ext cx="3054096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b="1" dirty="0">
                <a:solidFill>
                  <a:srgbClr val="17362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firm</a:t>
            </a:r>
            <a:endParaRPr lang="en-US" sz="2200" dirty="0"/>
          </a:p>
        </p:txBody>
      </p:sp>
      <p:sp>
        <p:nvSpPr>
          <p:cNvPr id="18" name="Text 16"/>
          <p:cNvSpPr txBox="1"/>
          <p:nvPr/>
        </p:nvSpPr>
        <p:spPr>
          <a:xfrm>
            <a:off x="8357616" y="4114800"/>
            <a:ext cx="3054096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dirty="0">
                <a:solidFill>
                  <a:srgbClr val="52655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Coordinate people, assignments, payments and service quality from one operating view.</a:t>
            </a:r>
            <a:endParaRPr lang="en-US" sz="1700" dirty="0"/>
          </a:p>
        </p:txBody>
      </p:sp>
      <p:sp>
        <p:nvSpPr>
          <p:cNvPr id="19" name="Shape 17"/>
          <p:cNvSpPr/>
          <p:nvPr/>
        </p:nvSpPr>
        <p:spPr>
          <a:xfrm>
            <a:off x="548640" y="5715000"/>
            <a:ext cx="11064240" cy="475488"/>
          </a:xfrm>
          <a:prstGeom prst="rect">
            <a:avLst/>
          </a:prstGeom>
          <a:solidFill>
            <a:srgbClr val="EFF4F0"/>
          </a:solidFill>
          <a:ln w="12700">
            <a:solidFill>
              <a:srgbClr val="EFF4F0">
                <a:alpha val="0"/>
              </a:srgbClr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731520" y="5824728"/>
            <a:ext cx="10698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52655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Product scope: website + Android/iOS app + firm administration. Current release: an interactive browser demonstration.</a:t>
            </a:r>
            <a:endParaRPr lang="en-US" sz="12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47472"/>
            <a:ext cx="10058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spc="180" kern="0" dirty="0">
                <a:solidFill>
                  <a:srgbClr val="52655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OPERATING JOURNEY</a:t>
            </a:r>
            <a:endParaRPr lang="en-US" sz="10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868680"/>
            <a:ext cx="1106424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400" dirty="0">
                <a:solidFill>
                  <a:srgbClr val="17362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 clear owner at every handover.</a:t>
            </a:r>
            <a:endParaRPr lang="en-US" sz="3400" dirty="0"/>
          </a:p>
        </p:txBody>
      </p:sp>
      <p:sp>
        <p:nvSpPr>
          <p:cNvPr id="4" name="Text 2"/>
          <p:cNvSpPr txBox="1"/>
          <p:nvPr/>
        </p:nvSpPr>
        <p:spPr>
          <a:xfrm>
            <a:off x="566928" y="1856232"/>
            <a:ext cx="107899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52655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One consultation record connects the request, appointment, documents and follow-up.</a:t>
            </a:r>
            <a:endParaRPr lang="en-US" sz="160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6419088"/>
            <a:ext cx="7315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spc="100" kern="0" dirty="0">
                <a:solidFill>
                  <a:srgbClr val="52655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YOUR FIRM</a:t>
            </a:r>
            <a:endParaRPr lang="en-US" sz="900" dirty="0"/>
          </a:p>
        </p:txBody>
      </p:sp>
      <p:sp>
        <p:nvSpPr>
          <p:cNvPr id="6" name="Text 4"/>
          <p:cNvSpPr txBox="1"/>
          <p:nvPr/>
        </p:nvSpPr>
        <p:spPr>
          <a:xfrm>
            <a:off x="10972800" y="6400800"/>
            <a:ext cx="5943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000" dirty="0">
                <a:solidFill>
                  <a:srgbClr val="52655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03</a:t>
            </a:r>
            <a:endParaRPr lang="en-US" sz="1000" dirty="0"/>
          </a:p>
        </p:txBody>
      </p:sp>
      <p:sp>
        <p:nvSpPr>
          <p:cNvPr id="7" name="Shape 5"/>
          <p:cNvSpPr/>
          <p:nvPr/>
        </p:nvSpPr>
        <p:spPr>
          <a:xfrm>
            <a:off x="548640" y="2834640"/>
            <a:ext cx="2011680" cy="2148840"/>
          </a:xfrm>
          <a:prstGeom prst="rect">
            <a:avLst/>
          </a:prstGeom>
          <a:solidFill>
            <a:srgbClr val="EFF4F0"/>
          </a:solidFill>
          <a:ln w="12700">
            <a:solidFill>
              <a:srgbClr val="EFF4F0">
                <a:alpha val="0"/>
              </a:srgbClr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731520" y="2999232"/>
            <a:ext cx="914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500" dirty="0">
                <a:solidFill>
                  <a:srgbClr val="173F3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01</a:t>
            </a:r>
            <a:endParaRPr lang="en-US" sz="2500" dirty="0"/>
          </a:p>
        </p:txBody>
      </p:sp>
      <p:sp>
        <p:nvSpPr>
          <p:cNvPr id="9" name="Text 7"/>
          <p:cNvSpPr txBox="1"/>
          <p:nvPr/>
        </p:nvSpPr>
        <p:spPr>
          <a:xfrm>
            <a:off x="731520" y="3575304"/>
            <a:ext cx="17373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100" b="1" dirty="0">
                <a:solidFill>
                  <a:srgbClr val="17362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Request</a:t>
            </a:r>
            <a:endParaRPr lang="en-US" sz="2100" dirty="0"/>
          </a:p>
        </p:txBody>
      </p:sp>
      <p:sp>
        <p:nvSpPr>
          <p:cNvPr id="10" name="Text 8"/>
          <p:cNvSpPr txBox="1"/>
          <p:nvPr/>
        </p:nvSpPr>
        <p:spPr>
          <a:xfrm>
            <a:off x="731520" y="4160520"/>
            <a:ext cx="1737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52655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Client</a:t>
            </a:r>
            <a:endParaRPr lang="en-US" sz="1400" dirty="0"/>
          </a:p>
        </p:txBody>
      </p:sp>
      <p:sp>
        <p:nvSpPr>
          <p:cNvPr id="11" name="Text 9"/>
          <p:cNvSpPr txBox="1"/>
          <p:nvPr/>
        </p:nvSpPr>
        <p:spPr>
          <a:xfrm>
            <a:off x="731520" y="4507992"/>
            <a:ext cx="17373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52655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Service, time, reason</a:t>
            </a:r>
            <a:endParaRPr lang="en-US" sz="1300" dirty="0"/>
          </a:p>
        </p:txBody>
      </p:sp>
      <p:sp>
        <p:nvSpPr>
          <p:cNvPr id="12" name="Shape 10"/>
          <p:cNvSpPr/>
          <p:nvPr/>
        </p:nvSpPr>
        <p:spPr>
          <a:xfrm>
            <a:off x="2788920" y="2834640"/>
            <a:ext cx="2011680" cy="2148840"/>
          </a:xfrm>
          <a:prstGeom prst="rect">
            <a:avLst/>
          </a:prstGeom>
          <a:solidFill>
            <a:srgbClr val="EFF4F0"/>
          </a:solidFill>
          <a:ln w="12700">
            <a:solidFill>
              <a:srgbClr val="EFF4F0">
                <a:alpha val="0"/>
              </a:srgbClr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2971800" y="2999232"/>
            <a:ext cx="914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500" dirty="0">
                <a:solidFill>
                  <a:srgbClr val="173F3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02</a:t>
            </a:r>
            <a:endParaRPr lang="en-US" sz="2500" dirty="0"/>
          </a:p>
        </p:txBody>
      </p:sp>
      <p:sp>
        <p:nvSpPr>
          <p:cNvPr id="14" name="Text 12"/>
          <p:cNvSpPr txBox="1"/>
          <p:nvPr/>
        </p:nvSpPr>
        <p:spPr>
          <a:xfrm>
            <a:off x="2971800" y="3575304"/>
            <a:ext cx="17373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100" b="1" dirty="0">
                <a:solidFill>
                  <a:srgbClr val="17362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Assign</a:t>
            </a:r>
            <a:endParaRPr lang="en-US" sz="2100" dirty="0"/>
          </a:p>
        </p:txBody>
      </p:sp>
      <p:sp>
        <p:nvSpPr>
          <p:cNvPr id="15" name="Text 13"/>
          <p:cNvSpPr txBox="1"/>
          <p:nvPr/>
        </p:nvSpPr>
        <p:spPr>
          <a:xfrm>
            <a:off x="2971800" y="4160520"/>
            <a:ext cx="1737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52655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Firm</a:t>
            </a:r>
            <a:endParaRPr lang="en-US" sz="1400" dirty="0"/>
          </a:p>
        </p:txBody>
      </p:sp>
      <p:sp>
        <p:nvSpPr>
          <p:cNvPr id="16" name="Text 14"/>
          <p:cNvSpPr txBox="1"/>
          <p:nvPr/>
        </p:nvSpPr>
        <p:spPr>
          <a:xfrm>
            <a:off x="2971800" y="4507992"/>
            <a:ext cx="17373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52655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Lawyer and reservation</a:t>
            </a:r>
            <a:endParaRPr lang="en-US" sz="1300" dirty="0"/>
          </a:p>
        </p:txBody>
      </p:sp>
      <p:sp>
        <p:nvSpPr>
          <p:cNvPr id="17" name="Shape 15"/>
          <p:cNvSpPr/>
          <p:nvPr/>
        </p:nvSpPr>
        <p:spPr>
          <a:xfrm>
            <a:off x="5029200" y="2834640"/>
            <a:ext cx="2011680" cy="2148840"/>
          </a:xfrm>
          <a:prstGeom prst="rect">
            <a:avLst/>
          </a:prstGeom>
          <a:solidFill>
            <a:srgbClr val="EFF4F0"/>
          </a:solidFill>
          <a:ln w="12700">
            <a:solidFill>
              <a:srgbClr val="EFF4F0">
                <a:alpha val="0"/>
              </a:srgbClr>
            </a:solidFill>
            <a:prstDash val="solid"/>
          </a:ln>
        </p:spPr>
      </p:sp>
      <p:sp>
        <p:nvSpPr>
          <p:cNvPr id="18" name="Text 16"/>
          <p:cNvSpPr txBox="1"/>
          <p:nvPr/>
        </p:nvSpPr>
        <p:spPr>
          <a:xfrm>
            <a:off x="5212080" y="2999232"/>
            <a:ext cx="914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500" dirty="0">
                <a:solidFill>
                  <a:srgbClr val="173F3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03</a:t>
            </a:r>
            <a:endParaRPr lang="en-US" sz="2500" dirty="0"/>
          </a:p>
        </p:txBody>
      </p:sp>
      <p:sp>
        <p:nvSpPr>
          <p:cNvPr id="19" name="Text 17"/>
          <p:cNvSpPr txBox="1"/>
          <p:nvPr/>
        </p:nvSpPr>
        <p:spPr>
          <a:xfrm>
            <a:off x="5212080" y="3575304"/>
            <a:ext cx="17373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100" b="1" dirty="0">
                <a:solidFill>
                  <a:srgbClr val="17362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Confirm</a:t>
            </a:r>
            <a:endParaRPr lang="en-US" sz="2100" dirty="0"/>
          </a:p>
        </p:txBody>
      </p:sp>
      <p:sp>
        <p:nvSpPr>
          <p:cNvPr id="20" name="Text 18"/>
          <p:cNvSpPr txBox="1"/>
          <p:nvPr/>
        </p:nvSpPr>
        <p:spPr>
          <a:xfrm>
            <a:off x="5212080" y="4160520"/>
            <a:ext cx="1737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52655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Client</a:t>
            </a:r>
            <a:endParaRPr lang="en-US" sz="1400" dirty="0"/>
          </a:p>
        </p:txBody>
      </p:sp>
      <p:sp>
        <p:nvSpPr>
          <p:cNvPr id="21" name="Text 19"/>
          <p:cNvSpPr txBox="1"/>
          <p:nvPr/>
        </p:nvSpPr>
        <p:spPr>
          <a:xfrm>
            <a:off x="5212080" y="4507992"/>
            <a:ext cx="17373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52655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Fee and payment</a:t>
            </a:r>
            <a:endParaRPr lang="en-US" sz="1300" dirty="0"/>
          </a:p>
        </p:txBody>
      </p:sp>
      <p:sp>
        <p:nvSpPr>
          <p:cNvPr id="22" name="Shape 20"/>
          <p:cNvSpPr/>
          <p:nvPr/>
        </p:nvSpPr>
        <p:spPr>
          <a:xfrm>
            <a:off x="7269480" y="2834640"/>
            <a:ext cx="2011680" cy="2148840"/>
          </a:xfrm>
          <a:prstGeom prst="rect">
            <a:avLst/>
          </a:prstGeom>
          <a:solidFill>
            <a:srgbClr val="173F35"/>
          </a:solidFill>
          <a:ln w="12700">
            <a:solidFill>
              <a:srgbClr val="173F35">
                <a:alpha val="0"/>
              </a:srgbClr>
            </a:solidFill>
            <a:prstDash val="solid"/>
          </a:ln>
        </p:spPr>
      </p:sp>
      <p:sp>
        <p:nvSpPr>
          <p:cNvPr id="23" name="Text 21"/>
          <p:cNvSpPr txBox="1"/>
          <p:nvPr/>
        </p:nvSpPr>
        <p:spPr>
          <a:xfrm>
            <a:off x="7452360" y="2999232"/>
            <a:ext cx="914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500" dirty="0">
                <a:solidFill>
                  <a:srgbClr val="B7975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04</a:t>
            </a:r>
            <a:endParaRPr lang="en-US" sz="2500" dirty="0"/>
          </a:p>
        </p:txBody>
      </p:sp>
      <p:sp>
        <p:nvSpPr>
          <p:cNvPr id="24" name="Text 22"/>
          <p:cNvSpPr txBox="1"/>
          <p:nvPr/>
        </p:nvSpPr>
        <p:spPr>
          <a:xfrm>
            <a:off x="7452360" y="3575304"/>
            <a:ext cx="17373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Consult</a:t>
            </a:r>
            <a:endParaRPr lang="en-US" sz="2100" dirty="0"/>
          </a:p>
        </p:txBody>
      </p:sp>
      <p:sp>
        <p:nvSpPr>
          <p:cNvPr id="25" name="Text 23"/>
          <p:cNvSpPr txBox="1"/>
          <p:nvPr/>
        </p:nvSpPr>
        <p:spPr>
          <a:xfrm>
            <a:off x="7452360" y="4160520"/>
            <a:ext cx="1737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DDE8E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Lawyer</a:t>
            </a:r>
            <a:endParaRPr lang="en-US" sz="1400" dirty="0"/>
          </a:p>
        </p:txBody>
      </p:sp>
      <p:sp>
        <p:nvSpPr>
          <p:cNvPr id="26" name="Text 24"/>
          <p:cNvSpPr txBox="1"/>
          <p:nvPr/>
        </p:nvSpPr>
        <p:spPr>
          <a:xfrm>
            <a:off x="7452360" y="4507992"/>
            <a:ext cx="17373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DDE8E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Review and outcome</a:t>
            </a:r>
            <a:endParaRPr lang="en-US" sz="1300" dirty="0"/>
          </a:p>
        </p:txBody>
      </p:sp>
      <p:sp>
        <p:nvSpPr>
          <p:cNvPr id="27" name="Shape 25"/>
          <p:cNvSpPr/>
          <p:nvPr/>
        </p:nvSpPr>
        <p:spPr>
          <a:xfrm>
            <a:off x="9509760" y="2834640"/>
            <a:ext cx="2011680" cy="2148840"/>
          </a:xfrm>
          <a:prstGeom prst="rect">
            <a:avLst/>
          </a:prstGeom>
          <a:solidFill>
            <a:srgbClr val="EFF4F0"/>
          </a:solidFill>
          <a:ln w="12700">
            <a:solidFill>
              <a:srgbClr val="EFF4F0">
                <a:alpha val="0"/>
              </a:srgbClr>
            </a:solidFill>
            <a:prstDash val="solid"/>
          </a:ln>
        </p:spPr>
      </p:sp>
      <p:sp>
        <p:nvSpPr>
          <p:cNvPr id="28" name="Text 26"/>
          <p:cNvSpPr txBox="1"/>
          <p:nvPr/>
        </p:nvSpPr>
        <p:spPr>
          <a:xfrm>
            <a:off x="9692640" y="2999232"/>
            <a:ext cx="914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500" dirty="0">
                <a:solidFill>
                  <a:srgbClr val="173F3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05</a:t>
            </a:r>
            <a:endParaRPr lang="en-US" sz="2500" dirty="0"/>
          </a:p>
        </p:txBody>
      </p:sp>
      <p:sp>
        <p:nvSpPr>
          <p:cNvPr id="29" name="Text 27"/>
          <p:cNvSpPr txBox="1"/>
          <p:nvPr/>
        </p:nvSpPr>
        <p:spPr>
          <a:xfrm>
            <a:off x="9692640" y="3575304"/>
            <a:ext cx="17373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100" b="1" dirty="0">
                <a:solidFill>
                  <a:srgbClr val="17362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Follow-up</a:t>
            </a:r>
            <a:endParaRPr lang="en-US" sz="2100" dirty="0"/>
          </a:p>
        </p:txBody>
      </p:sp>
      <p:sp>
        <p:nvSpPr>
          <p:cNvPr id="30" name="Text 28"/>
          <p:cNvSpPr txBox="1"/>
          <p:nvPr/>
        </p:nvSpPr>
        <p:spPr>
          <a:xfrm>
            <a:off x="9692640" y="4160520"/>
            <a:ext cx="1737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52655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Firm + client</a:t>
            </a:r>
            <a:endParaRPr lang="en-US" sz="1400" dirty="0"/>
          </a:p>
        </p:txBody>
      </p:sp>
      <p:sp>
        <p:nvSpPr>
          <p:cNvPr id="31" name="Text 29"/>
          <p:cNvSpPr txBox="1"/>
          <p:nvPr/>
        </p:nvSpPr>
        <p:spPr>
          <a:xfrm>
            <a:off x="9692640" y="4507992"/>
            <a:ext cx="17373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52655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Summary, actions, closure</a:t>
            </a:r>
            <a:endParaRPr lang="en-US" sz="1300" dirty="0"/>
          </a:p>
        </p:txBody>
      </p:sp>
      <p:sp>
        <p:nvSpPr>
          <p:cNvPr id="32" name="Shape 30"/>
          <p:cNvSpPr/>
          <p:nvPr/>
        </p:nvSpPr>
        <p:spPr>
          <a:xfrm>
            <a:off x="548640" y="5715000"/>
            <a:ext cx="11064240" cy="475488"/>
          </a:xfrm>
          <a:prstGeom prst="rect">
            <a:avLst/>
          </a:prstGeom>
          <a:solidFill>
            <a:srgbClr val="EFF4F0"/>
          </a:solidFill>
          <a:ln w="12700">
            <a:solidFill>
              <a:srgbClr val="EFF4F0">
                <a:alpha val="0"/>
              </a:srgbClr>
            </a:solidFill>
            <a:prstDash val="solid"/>
          </a:ln>
        </p:spPr>
      </p:sp>
      <p:sp>
        <p:nvSpPr>
          <p:cNvPr id="33" name="Text 31"/>
          <p:cNvSpPr txBox="1"/>
          <p:nvPr/>
        </p:nvSpPr>
        <p:spPr>
          <a:xfrm>
            <a:off x="731520" y="5824728"/>
            <a:ext cx="10698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52655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Assignment before payment is the proposed sequence. The firm must approve it alongside hourly billing and reservation rules.</a:t>
            </a:r>
            <a:endParaRPr lang="en-US" sz="12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47472"/>
            <a:ext cx="10058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spc="180" kern="0" dirty="0">
                <a:solidFill>
                  <a:srgbClr val="52655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CLIENT EXPERIENCE</a:t>
            </a:r>
            <a:endParaRPr lang="en-US" sz="10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868680"/>
            <a:ext cx="1106424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400" dirty="0">
                <a:solidFill>
                  <a:srgbClr val="17362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Know what happens next.</a:t>
            </a:r>
            <a:endParaRPr lang="en-US" sz="3400" dirty="0"/>
          </a:p>
        </p:txBody>
      </p:sp>
      <p:sp>
        <p:nvSpPr>
          <p:cNvPr id="4" name="Text 2"/>
          <p:cNvSpPr txBox="1"/>
          <p:nvPr/>
        </p:nvSpPr>
        <p:spPr>
          <a:xfrm>
            <a:off x="566928" y="1856232"/>
            <a:ext cx="107899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52655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Appointments, documents and advice stay connected without repeating the same content on every tab.</a:t>
            </a:r>
            <a:endParaRPr lang="en-US" sz="160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6419088"/>
            <a:ext cx="7315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spc="100" kern="0" dirty="0">
                <a:solidFill>
                  <a:srgbClr val="52655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YOUR FIRM</a:t>
            </a:r>
            <a:endParaRPr lang="en-US" sz="900" dirty="0"/>
          </a:p>
        </p:txBody>
      </p:sp>
      <p:sp>
        <p:nvSpPr>
          <p:cNvPr id="6" name="Text 4"/>
          <p:cNvSpPr txBox="1"/>
          <p:nvPr/>
        </p:nvSpPr>
        <p:spPr>
          <a:xfrm>
            <a:off x="10972800" y="6400800"/>
            <a:ext cx="5943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000" dirty="0">
                <a:solidFill>
                  <a:srgbClr val="52655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04</a:t>
            </a:r>
            <a:endParaRPr lang="en-US" sz="1000" dirty="0"/>
          </a:p>
        </p:txBody>
      </p:sp>
      <p:sp>
        <p:nvSpPr>
          <p:cNvPr id="7" name="Text 5"/>
          <p:cNvSpPr txBox="1"/>
          <p:nvPr/>
        </p:nvSpPr>
        <p:spPr>
          <a:xfrm>
            <a:off x="594360" y="2606040"/>
            <a:ext cx="5074920" cy="2651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rgbClr val="17362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Get started</a:t>
            </a:r>
            <a:endParaRPr lang="en-US" sz="1700" dirty="0"/>
          </a:p>
        </p:txBody>
      </p:sp>
      <p:sp>
        <p:nvSpPr>
          <p:cNvPr id="8" name="Text 6"/>
          <p:cNvSpPr txBox="1"/>
          <p:nvPr/>
        </p:nvSpPr>
        <p:spPr>
          <a:xfrm>
            <a:off x="594360" y="2916936"/>
            <a:ext cx="5074920" cy="4480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52655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Mobile sign-in, editable contact details and service selection.</a:t>
            </a:r>
            <a:endParaRPr lang="en-US" sz="1500" dirty="0"/>
          </a:p>
        </p:txBody>
      </p:sp>
      <p:sp>
        <p:nvSpPr>
          <p:cNvPr id="9" name="Text 7"/>
          <p:cNvSpPr txBox="1"/>
          <p:nvPr/>
        </p:nvSpPr>
        <p:spPr>
          <a:xfrm>
            <a:off x="594360" y="3630168"/>
            <a:ext cx="5074920" cy="2651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rgbClr val="17362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Prepare with confidence</a:t>
            </a:r>
            <a:endParaRPr lang="en-US" sz="1700" dirty="0"/>
          </a:p>
        </p:txBody>
      </p:sp>
      <p:sp>
        <p:nvSpPr>
          <p:cNvPr id="10" name="Text 8"/>
          <p:cNvSpPr txBox="1"/>
          <p:nvPr/>
        </p:nvSpPr>
        <p:spPr>
          <a:xfrm>
            <a:off x="594360" y="3941064"/>
            <a:ext cx="5074920" cy="4480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52655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Appointment details, assigned lawyer and requested documents.</a:t>
            </a:r>
            <a:endParaRPr lang="en-US" sz="1500" dirty="0"/>
          </a:p>
        </p:txBody>
      </p:sp>
      <p:sp>
        <p:nvSpPr>
          <p:cNvPr id="11" name="Text 9"/>
          <p:cNvSpPr txBox="1"/>
          <p:nvPr/>
        </p:nvSpPr>
        <p:spPr>
          <a:xfrm>
            <a:off x="594360" y="4654296"/>
            <a:ext cx="5074920" cy="2651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rgbClr val="17362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Stay informed</a:t>
            </a:r>
            <a:endParaRPr lang="en-US" sz="1700" dirty="0"/>
          </a:p>
        </p:txBody>
      </p:sp>
      <p:sp>
        <p:nvSpPr>
          <p:cNvPr id="12" name="Text 10"/>
          <p:cNvSpPr txBox="1"/>
          <p:nvPr/>
        </p:nvSpPr>
        <p:spPr>
          <a:xfrm>
            <a:off x="594360" y="4965192"/>
            <a:ext cx="5074920" cy="4480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52655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Booking, payment and assignment updates; a shared summary after consultation.</a:t>
            </a:r>
            <a:endParaRPr lang="en-US" sz="1500" dirty="0"/>
          </a:p>
        </p:txBody>
      </p:sp>
      <p:sp>
        <p:nvSpPr>
          <p:cNvPr id="13" name="Shape 11"/>
          <p:cNvSpPr/>
          <p:nvPr/>
        </p:nvSpPr>
        <p:spPr>
          <a:xfrm>
            <a:off x="6400800" y="2560320"/>
            <a:ext cx="5166360" cy="3246120"/>
          </a:xfrm>
          <a:prstGeom prst="rect">
            <a:avLst/>
          </a:prstGeom>
          <a:solidFill>
            <a:srgbClr val="EFF4F0"/>
          </a:solidFill>
          <a:ln w="12700">
            <a:solidFill>
              <a:srgbClr val="EFF4F0">
                <a:alpha val="0"/>
              </a:srgbClr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6675120" y="2816352"/>
            <a:ext cx="4480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spc="140" kern="0" dirty="0">
                <a:solidFill>
                  <a:srgbClr val="52655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CLIENT’S NEXT STEP</a:t>
            </a:r>
            <a:endParaRPr lang="en-US" sz="1100" dirty="0"/>
          </a:p>
        </p:txBody>
      </p:sp>
      <p:sp>
        <p:nvSpPr>
          <p:cNvPr id="15" name="Text 13"/>
          <p:cNvSpPr txBox="1"/>
          <p:nvPr/>
        </p:nvSpPr>
        <p:spPr>
          <a:xfrm>
            <a:off x="6675120" y="3355848"/>
            <a:ext cx="43891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700" dirty="0">
                <a:solidFill>
                  <a:srgbClr val="173F35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Appointment confirmed</a:t>
            </a:r>
            <a:endParaRPr lang="en-US" sz="2700" dirty="0"/>
          </a:p>
        </p:txBody>
      </p:sp>
      <p:sp>
        <p:nvSpPr>
          <p:cNvPr id="16" name="Text 14"/>
          <p:cNvSpPr txBox="1"/>
          <p:nvPr/>
        </p:nvSpPr>
        <p:spPr>
          <a:xfrm>
            <a:off x="6675120" y="4206240"/>
            <a:ext cx="43891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900" dirty="0">
                <a:solidFill>
                  <a:srgbClr val="17362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Prepare documents → Meet your lawyer</a:t>
            </a:r>
            <a:endParaRPr lang="en-US" sz="1900" dirty="0"/>
          </a:p>
          <a:p>
            <a:pPr indent="0" marL="0">
              <a:buNone/>
            </a:pPr>
            <a:r>
              <a:rPr lang="en-US" sz="1900" dirty="0">
                <a:solidFill>
                  <a:srgbClr val="17362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→ Read the summary → Complete agreed actions</a:t>
            </a:r>
            <a:endParaRPr lang="en-US" sz="1900" dirty="0"/>
          </a:p>
        </p:txBody>
      </p:sp>
      <p:sp>
        <p:nvSpPr>
          <p:cNvPr id="17" name="Text 15"/>
          <p:cNvSpPr txBox="1"/>
          <p:nvPr/>
        </p:nvSpPr>
        <p:spPr>
          <a:xfrm>
            <a:off x="6675120" y="5504688"/>
            <a:ext cx="43891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52655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Workflow illustration</a:t>
            </a:r>
            <a:endParaRPr lang="en-US" sz="10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47472"/>
            <a:ext cx="10058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spc="180" kern="0" dirty="0">
                <a:solidFill>
                  <a:srgbClr val="52655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ACROSS WEBSITE &amp; APP</a:t>
            </a:r>
            <a:endParaRPr lang="en-US" sz="10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868680"/>
            <a:ext cx="1106424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400" dirty="0">
                <a:solidFill>
                  <a:srgbClr val="17362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client journey, across both screens.</a:t>
            </a:r>
            <a:endParaRPr lang="en-US" sz="34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6419088"/>
            <a:ext cx="7315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spc="100" kern="0" dirty="0">
                <a:solidFill>
                  <a:srgbClr val="52655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YOUR FIRM</a:t>
            </a:r>
            <a:endParaRPr lang="en-US" sz="900" dirty="0"/>
          </a:p>
        </p:txBody>
      </p:sp>
      <p:sp>
        <p:nvSpPr>
          <p:cNvPr id="5" name="Text 3"/>
          <p:cNvSpPr txBox="1"/>
          <p:nvPr/>
        </p:nvSpPr>
        <p:spPr>
          <a:xfrm>
            <a:off x="10972800" y="6400800"/>
            <a:ext cx="5943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000" dirty="0">
                <a:solidFill>
                  <a:srgbClr val="52655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05</a:t>
            </a:r>
            <a:endParaRPr lang="en-US" sz="1000" dirty="0"/>
          </a:p>
        </p:txBody>
      </p:sp>
      <p:sp>
        <p:nvSpPr>
          <p:cNvPr id="6" name="Text 4"/>
          <p:cNvSpPr txBox="1"/>
          <p:nvPr/>
        </p:nvSpPr>
        <p:spPr>
          <a:xfrm>
            <a:off x="594360" y="1645920"/>
            <a:ext cx="74980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rgbClr val="52655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WEBSITE · CONSULTATIONS</a:t>
            </a:r>
            <a:endParaRPr lang="en-US" sz="1100" dirty="0"/>
          </a:p>
        </p:txBody>
      </p:sp>
      <p:sp>
        <p:nvSpPr>
          <p:cNvPr id="7" name="Text 5"/>
          <p:cNvSpPr txBox="1"/>
          <p:nvPr/>
        </p:nvSpPr>
        <p:spPr>
          <a:xfrm>
            <a:off x="9052560" y="1645920"/>
            <a:ext cx="24688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rgbClr val="52655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APP · OVERVIEW</a:t>
            </a:r>
            <a:endParaRPr lang="en-US" sz="1100" dirty="0"/>
          </a:p>
        </p:txBody>
      </p:sp>
      <p:pic>
        <p:nvPicPr>
          <p:cNvPr id="8" name="Image 0" descr="/Users/pinkman/Documents/Codex/2026-09-24/continue-the-lawyer-app-demo-in/work/role-visuals/client-web-clean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94360" y="1993392"/>
            <a:ext cx="7406640" cy="3969410"/>
          </a:xfrm>
          <a:prstGeom prst="rect">
            <a:avLst/>
          </a:prstGeom>
        </p:spPr>
      </p:pic>
      <p:pic>
        <p:nvPicPr>
          <p:cNvPr id="9" name="Image 1" descr="/Users/pinkman/Documents/Codex/2026-09-24/continue-the-lawyer-app-demo-in/work/role-visuals/client-mobile-clean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052560" y="1993392"/>
            <a:ext cx="2011680" cy="3992270"/>
          </a:xfrm>
          <a:prstGeom prst="rect">
            <a:avLst/>
          </a:prstGeom>
        </p:spPr>
      </p:pic>
      <p:sp>
        <p:nvSpPr>
          <p:cNvPr id="10" name="Shape 6"/>
          <p:cNvSpPr/>
          <p:nvPr/>
        </p:nvSpPr>
        <p:spPr>
          <a:xfrm>
            <a:off x="594360" y="6053328"/>
            <a:ext cx="10469880" cy="301752"/>
          </a:xfrm>
          <a:prstGeom prst="rect">
            <a:avLst/>
          </a:prstGeom>
          <a:solidFill>
            <a:srgbClr val="173F35"/>
          </a:solidFill>
          <a:ln w="12700">
            <a:solidFill>
              <a:srgbClr val="173F35">
                <a:alpha val="0"/>
              </a:srgbClr>
            </a:solidFill>
            <a:prstDash val="solid"/>
          </a:ln>
        </p:spPr>
      </p:sp>
      <p:sp>
        <p:nvSpPr>
          <p:cNvPr id="11" name="Text 7"/>
          <p:cNvSpPr txBox="1"/>
          <p:nvPr/>
        </p:nvSpPr>
        <p:spPr>
          <a:xfrm>
            <a:off x="758952" y="6108192"/>
            <a:ext cx="101498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Choose a service → Book → Prepare → Attend → Read the summary → Follow up</a:t>
            </a:r>
            <a:endParaRPr lang="en-US" sz="125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47472"/>
            <a:ext cx="10058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spc="180" kern="0" dirty="0">
                <a:solidFill>
                  <a:srgbClr val="52655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LAWYER EXPERIENCE</a:t>
            </a:r>
            <a:endParaRPr lang="en-US" sz="10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868680"/>
            <a:ext cx="1106424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400" dirty="0">
                <a:solidFill>
                  <a:srgbClr val="17362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Prepare once. Carry the advice forward.</a:t>
            </a:r>
            <a:endParaRPr lang="en-US" sz="3400" dirty="0"/>
          </a:p>
        </p:txBody>
      </p:sp>
      <p:sp>
        <p:nvSpPr>
          <p:cNvPr id="4" name="Text 2"/>
          <p:cNvSpPr txBox="1"/>
          <p:nvPr/>
        </p:nvSpPr>
        <p:spPr>
          <a:xfrm>
            <a:off x="566928" y="1856232"/>
            <a:ext cx="107899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52655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lawyer workspace is organised around the work, not a repeated dashboard.</a:t>
            </a:r>
            <a:endParaRPr lang="en-US" sz="160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6419088"/>
            <a:ext cx="7315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spc="100" kern="0" dirty="0">
                <a:solidFill>
                  <a:srgbClr val="52655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YOUR FIRM</a:t>
            </a:r>
            <a:endParaRPr lang="en-US" sz="900" dirty="0"/>
          </a:p>
        </p:txBody>
      </p:sp>
      <p:sp>
        <p:nvSpPr>
          <p:cNvPr id="6" name="Text 4"/>
          <p:cNvSpPr txBox="1"/>
          <p:nvPr/>
        </p:nvSpPr>
        <p:spPr>
          <a:xfrm>
            <a:off x="10972800" y="6400800"/>
            <a:ext cx="5943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000" dirty="0">
                <a:solidFill>
                  <a:srgbClr val="52655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06</a:t>
            </a:r>
            <a:endParaRPr lang="en-US" sz="1000" dirty="0"/>
          </a:p>
        </p:txBody>
      </p:sp>
      <p:sp>
        <p:nvSpPr>
          <p:cNvPr id="7" name="Shape 5"/>
          <p:cNvSpPr/>
          <p:nvPr/>
        </p:nvSpPr>
        <p:spPr>
          <a:xfrm>
            <a:off x="548640" y="2606040"/>
            <a:ext cx="3493008" cy="2880360"/>
          </a:xfrm>
          <a:prstGeom prst="rect">
            <a:avLst/>
          </a:prstGeom>
          <a:solidFill>
            <a:srgbClr val="EFF4F0"/>
          </a:solidFill>
          <a:ln w="12700">
            <a:solidFill>
              <a:srgbClr val="EFF4F0">
                <a:alpha val="0"/>
              </a:srgbClr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768096" y="2825496"/>
            <a:ext cx="3054096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500" dirty="0">
                <a:solidFill>
                  <a:srgbClr val="173F35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Before</a:t>
            </a:r>
            <a:endParaRPr lang="en-US" sz="2500" dirty="0"/>
          </a:p>
        </p:txBody>
      </p:sp>
      <p:sp>
        <p:nvSpPr>
          <p:cNvPr id="9" name="Text 7"/>
          <p:cNvSpPr txBox="1"/>
          <p:nvPr/>
        </p:nvSpPr>
        <p:spPr>
          <a:xfrm>
            <a:off x="768096" y="3447288"/>
            <a:ext cx="3054096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b="1" dirty="0">
                <a:solidFill>
                  <a:srgbClr val="17362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Schedule &amp; prepare</a:t>
            </a:r>
            <a:endParaRPr lang="en-US" sz="2200" dirty="0"/>
          </a:p>
        </p:txBody>
      </p:sp>
      <p:sp>
        <p:nvSpPr>
          <p:cNvPr id="10" name="Text 8"/>
          <p:cNvSpPr txBox="1"/>
          <p:nvPr/>
        </p:nvSpPr>
        <p:spPr>
          <a:xfrm>
            <a:off x="768096" y="4114800"/>
            <a:ext cx="3054096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dirty="0">
                <a:solidFill>
                  <a:srgbClr val="52655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Offer available times. Open assigned appointments, client context and requested documents.</a:t>
            </a:r>
            <a:endParaRPr lang="en-US" sz="1700" dirty="0"/>
          </a:p>
        </p:txBody>
      </p:sp>
      <p:sp>
        <p:nvSpPr>
          <p:cNvPr id="11" name="Shape 9"/>
          <p:cNvSpPr/>
          <p:nvPr/>
        </p:nvSpPr>
        <p:spPr>
          <a:xfrm>
            <a:off x="4343400" y="2606040"/>
            <a:ext cx="3493008" cy="2880360"/>
          </a:xfrm>
          <a:prstGeom prst="rect">
            <a:avLst/>
          </a:prstGeom>
          <a:solidFill>
            <a:srgbClr val="EFF4F0"/>
          </a:solidFill>
          <a:ln w="12700">
            <a:solidFill>
              <a:srgbClr val="EFF4F0">
                <a:alpha val="0"/>
              </a:srgbClr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4562856" y="2825496"/>
            <a:ext cx="3054096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500" dirty="0">
                <a:solidFill>
                  <a:srgbClr val="173F35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During</a:t>
            </a:r>
            <a:endParaRPr lang="en-US" sz="2500" dirty="0"/>
          </a:p>
        </p:txBody>
      </p:sp>
      <p:sp>
        <p:nvSpPr>
          <p:cNvPr id="13" name="Text 11"/>
          <p:cNvSpPr txBox="1"/>
          <p:nvPr/>
        </p:nvSpPr>
        <p:spPr>
          <a:xfrm>
            <a:off x="4562856" y="3447288"/>
            <a:ext cx="3054096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b="1" dirty="0">
                <a:solidFill>
                  <a:srgbClr val="17362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Consult &amp; record</a:t>
            </a:r>
            <a:endParaRPr lang="en-US" sz="2200" dirty="0"/>
          </a:p>
        </p:txBody>
      </p:sp>
      <p:sp>
        <p:nvSpPr>
          <p:cNvPr id="14" name="Text 12"/>
          <p:cNvSpPr txBox="1"/>
          <p:nvPr/>
        </p:nvSpPr>
        <p:spPr>
          <a:xfrm>
            <a:off x="4562856" y="4114800"/>
            <a:ext cx="3054096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dirty="0">
                <a:solidFill>
                  <a:srgbClr val="52655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Start the consultation, record internal notes and submit the outcome for office review.</a:t>
            </a:r>
            <a:endParaRPr lang="en-US" sz="1700" dirty="0"/>
          </a:p>
        </p:txBody>
      </p:sp>
      <p:sp>
        <p:nvSpPr>
          <p:cNvPr id="15" name="Shape 13"/>
          <p:cNvSpPr/>
          <p:nvPr/>
        </p:nvSpPr>
        <p:spPr>
          <a:xfrm>
            <a:off x="8138160" y="2606040"/>
            <a:ext cx="3493008" cy="2880360"/>
          </a:xfrm>
          <a:prstGeom prst="rect">
            <a:avLst/>
          </a:prstGeom>
          <a:solidFill>
            <a:srgbClr val="EFF4F0"/>
          </a:solidFill>
          <a:ln w="12700">
            <a:solidFill>
              <a:srgbClr val="EFF4F0">
                <a:alpha val="0"/>
              </a:srgbClr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8357616" y="2825496"/>
            <a:ext cx="3054096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500" dirty="0">
                <a:solidFill>
                  <a:srgbClr val="173F35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After</a:t>
            </a:r>
            <a:endParaRPr lang="en-US" sz="2500" dirty="0"/>
          </a:p>
        </p:txBody>
      </p:sp>
      <p:sp>
        <p:nvSpPr>
          <p:cNvPr id="17" name="Text 15"/>
          <p:cNvSpPr txBox="1"/>
          <p:nvPr/>
        </p:nvSpPr>
        <p:spPr>
          <a:xfrm>
            <a:off x="8357616" y="3447288"/>
            <a:ext cx="3054096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b="1" dirty="0">
                <a:solidFill>
                  <a:srgbClr val="17362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Summarise &amp; follow up</a:t>
            </a:r>
            <a:endParaRPr lang="en-US" sz="2200" dirty="0"/>
          </a:p>
        </p:txBody>
      </p:sp>
      <p:sp>
        <p:nvSpPr>
          <p:cNvPr id="18" name="Text 16"/>
          <p:cNvSpPr txBox="1"/>
          <p:nvPr/>
        </p:nvSpPr>
        <p:spPr>
          <a:xfrm>
            <a:off x="8357616" y="4114800"/>
            <a:ext cx="3054096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dirty="0">
                <a:solidFill>
                  <a:srgbClr val="52655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Publish the client summary separately, agree the next action and retain consultation history.</a:t>
            </a:r>
            <a:endParaRPr lang="en-US" sz="1700" dirty="0"/>
          </a:p>
        </p:txBody>
      </p:sp>
      <p:sp>
        <p:nvSpPr>
          <p:cNvPr id="19" name="Shape 17"/>
          <p:cNvSpPr/>
          <p:nvPr/>
        </p:nvSpPr>
        <p:spPr>
          <a:xfrm>
            <a:off x="548640" y="5715000"/>
            <a:ext cx="11064240" cy="475488"/>
          </a:xfrm>
          <a:prstGeom prst="rect">
            <a:avLst/>
          </a:prstGeom>
          <a:solidFill>
            <a:srgbClr val="EFF4F0"/>
          </a:solidFill>
          <a:ln w="12700">
            <a:solidFill>
              <a:srgbClr val="EFF4F0">
                <a:alpha val="0"/>
              </a:srgbClr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731520" y="5824728"/>
            <a:ext cx="10698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52655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Diary • Matters • Document review • Follow-ups • Availability</a:t>
            </a:r>
            <a:endParaRPr lang="en-US" sz="12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47472"/>
            <a:ext cx="10058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spc="180" kern="0" dirty="0">
                <a:solidFill>
                  <a:srgbClr val="52655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ACROSS WEBSITE &amp; APP</a:t>
            </a:r>
            <a:endParaRPr lang="en-US" sz="10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868680"/>
            <a:ext cx="1106424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400" dirty="0">
                <a:solidFill>
                  <a:srgbClr val="17362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lawyer journey, from diary to follow-up.</a:t>
            </a:r>
            <a:endParaRPr lang="en-US" sz="34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6419088"/>
            <a:ext cx="7315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spc="100" kern="0" dirty="0">
                <a:solidFill>
                  <a:srgbClr val="52655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YOUR FIRM</a:t>
            </a:r>
            <a:endParaRPr lang="en-US" sz="900" dirty="0"/>
          </a:p>
        </p:txBody>
      </p:sp>
      <p:sp>
        <p:nvSpPr>
          <p:cNvPr id="5" name="Text 3"/>
          <p:cNvSpPr txBox="1"/>
          <p:nvPr/>
        </p:nvSpPr>
        <p:spPr>
          <a:xfrm>
            <a:off x="10972800" y="6400800"/>
            <a:ext cx="5943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000" dirty="0">
                <a:solidFill>
                  <a:srgbClr val="52655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07</a:t>
            </a:r>
            <a:endParaRPr lang="en-US" sz="1000" dirty="0"/>
          </a:p>
        </p:txBody>
      </p:sp>
      <p:sp>
        <p:nvSpPr>
          <p:cNvPr id="6" name="Text 4"/>
          <p:cNvSpPr txBox="1"/>
          <p:nvPr/>
        </p:nvSpPr>
        <p:spPr>
          <a:xfrm>
            <a:off x="594360" y="1645920"/>
            <a:ext cx="74980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rgbClr val="52655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WEBSITE · SCHEDULE</a:t>
            </a:r>
            <a:endParaRPr lang="en-US" sz="1100" dirty="0"/>
          </a:p>
        </p:txBody>
      </p:sp>
      <p:sp>
        <p:nvSpPr>
          <p:cNvPr id="7" name="Text 5"/>
          <p:cNvSpPr txBox="1"/>
          <p:nvPr/>
        </p:nvSpPr>
        <p:spPr>
          <a:xfrm>
            <a:off x="9052560" y="1645920"/>
            <a:ext cx="24688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rgbClr val="52655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APP · AVAILABILITY</a:t>
            </a:r>
            <a:endParaRPr lang="en-US" sz="1100" dirty="0"/>
          </a:p>
        </p:txBody>
      </p:sp>
      <p:pic>
        <p:nvPicPr>
          <p:cNvPr id="8" name="Image 0" descr="/Users/pinkman/Documents/Codex/2026-09-24/continue-the-lawyer-app-demo-in/work/role-visuals/lawyer-web-clean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94360" y="1993392"/>
            <a:ext cx="7406640" cy="3969410"/>
          </a:xfrm>
          <a:prstGeom prst="rect">
            <a:avLst/>
          </a:prstGeom>
        </p:spPr>
      </p:pic>
      <p:pic>
        <p:nvPicPr>
          <p:cNvPr id="9" name="Image 1" descr="/Users/pinkman/Documents/Codex/2026-09-24/continue-the-lawyer-app-demo-in/work/role-visuals/lawyer-mobile-clean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052560" y="1993392"/>
            <a:ext cx="2011680" cy="3992270"/>
          </a:xfrm>
          <a:prstGeom prst="rect">
            <a:avLst/>
          </a:prstGeom>
        </p:spPr>
      </p:pic>
      <p:sp>
        <p:nvSpPr>
          <p:cNvPr id="10" name="Shape 6"/>
          <p:cNvSpPr/>
          <p:nvPr/>
        </p:nvSpPr>
        <p:spPr>
          <a:xfrm>
            <a:off x="594360" y="6053328"/>
            <a:ext cx="10469880" cy="301752"/>
          </a:xfrm>
          <a:prstGeom prst="rect">
            <a:avLst/>
          </a:prstGeom>
          <a:solidFill>
            <a:srgbClr val="173F35"/>
          </a:solidFill>
          <a:ln w="12700">
            <a:solidFill>
              <a:srgbClr val="173F35">
                <a:alpha val="0"/>
              </a:srgbClr>
            </a:solidFill>
            <a:prstDash val="solid"/>
          </a:ln>
        </p:spPr>
      </p:sp>
      <p:sp>
        <p:nvSpPr>
          <p:cNvPr id="11" name="Text 7"/>
          <p:cNvSpPr txBox="1"/>
          <p:nvPr/>
        </p:nvSpPr>
        <p:spPr>
          <a:xfrm>
            <a:off x="758952" y="6108192"/>
            <a:ext cx="101498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Set availability → Review → Consult → Record the outcome → Share advice → Follow up</a:t>
            </a:r>
            <a:endParaRPr lang="en-US" sz="125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47472"/>
            <a:ext cx="10058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spc="180" kern="0" dirty="0">
                <a:solidFill>
                  <a:srgbClr val="52655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FIRM ADMINISTRATION</a:t>
            </a:r>
            <a:endParaRPr lang="en-US" sz="10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868680"/>
            <a:ext cx="1106424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400" dirty="0">
                <a:solidFill>
                  <a:srgbClr val="17362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Run the service, not just the inbox.</a:t>
            </a:r>
            <a:endParaRPr lang="en-US" sz="3400" dirty="0"/>
          </a:p>
        </p:txBody>
      </p:sp>
      <p:sp>
        <p:nvSpPr>
          <p:cNvPr id="4" name="Text 2"/>
          <p:cNvSpPr txBox="1"/>
          <p:nvPr/>
        </p:nvSpPr>
        <p:spPr>
          <a:xfrm>
            <a:off x="566928" y="1856232"/>
            <a:ext cx="107899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52655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administration experience covers people, coordination and a view of firm activity.</a:t>
            </a:r>
            <a:endParaRPr lang="en-US" sz="160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6419088"/>
            <a:ext cx="7315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spc="100" kern="0" dirty="0">
                <a:solidFill>
                  <a:srgbClr val="52655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YOUR FIRM</a:t>
            </a:r>
            <a:endParaRPr lang="en-US" sz="900" dirty="0"/>
          </a:p>
        </p:txBody>
      </p:sp>
      <p:sp>
        <p:nvSpPr>
          <p:cNvPr id="6" name="Text 4"/>
          <p:cNvSpPr txBox="1"/>
          <p:nvPr/>
        </p:nvSpPr>
        <p:spPr>
          <a:xfrm>
            <a:off x="10972800" y="6400800"/>
            <a:ext cx="5943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000" dirty="0">
                <a:solidFill>
                  <a:srgbClr val="52655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08</a:t>
            </a:r>
            <a:endParaRPr lang="en-US" sz="1000" dirty="0"/>
          </a:p>
        </p:txBody>
      </p:sp>
      <p:sp>
        <p:nvSpPr>
          <p:cNvPr id="7" name="Text 5"/>
          <p:cNvSpPr txBox="1"/>
          <p:nvPr/>
        </p:nvSpPr>
        <p:spPr>
          <a:xfrm>
            <a:off x="594360" y="2606040"/>
            <a:ext cx="5212080" cy="2651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rgbClr val="17362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People</a:t>
            </a:r>
            <a:endParaRPr lang="en-US" sz="1700" dirty="0"/>
          </a:p>
        </p:txBody>
      </p:sp>
      <p:sp>
        <p:nvSpPr>
          <p:cNvPr id="8" name="Text 6"/>
          <p:cNvSpPr txBox="1"/>
          <p:nvPr/>
        </p:nvSpPr>
        <p:spPr>
          <a:xfrm>
            <a:off x="594360" y="2916936"/>
            <a:ext cx="5212080" cy="4480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52655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Add and manage users and lawyers, specializations, photos and activation.</a:t>
            </a:r>
            <a:endParaRPr lang="en-US" sz="1500" dirty="0"/>
          </a:p>
        </p:txBody>
      </p:sp>
      <p:sp>
        <p:nvSpPr>
          <p:cNvPr id="9" name="Text 7"/>
          <p:cNvSpPr txBox="1"/>
          <p:nvPr/>
        </p:nvSpPr>
        <p:spPr>
          <a:xfrm>
            <a:off x="594360" y="3639312"/>
            <a:ext cx="5212080" cy="2651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rgbClr val="17362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Coordination</a:t>
            </a:r>
            <a:endParaRPr lang="en-US" sz="1700" dirty="0"/>
          </a:p>
        </p:txBody>
      </p:sp>
      <p:sp>
        <p:nvSpPr>
          <p:cNvPr id="10" name="Text 8"/>
          <p:cNvSpPr txBox="1"/>
          <p:nvPr/>
        </p:nvSpPr>
        <p:spPr>
          <a:xfrm>
            <a:off x="594360" y="3950208"/>
            <a:ext cx="5212080" cy="4480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52655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Assign or reassign work, monitor progress and manage follow-up and closure.</a:t>
            </a:r>
            <a:endParaRPr lang="en-US" sz="1500" dirty="0"/>
          </a:p>
        </p:txBody>
      </p:sp>
      <p:sp>
        <p:nvSpPr>
          <p:cNvPr id="11" name="Text 9"/>
          <p:cNvSpPr txBox="1"/>
          <p:nvPr/>
        </p:nvSpPr>
        <p:spPr>
          <a:xfrm>
            <a:off x="594360" y="4672584"/>
            <a:ext cx="5212080" cy="2651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rgbClr val="17362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Oversight</a:t>
            </a:r>
            <a:endParaRPr lang="en-US" sz="1700" dirty="0"/>
          </a:p>
        </p:txBody>
      </p:sp>
      <p:sp>
        <p:nvSpPr>
          <p:cNvPr id="12" name="Text 10"/>
          <p:cNvSpPr txBox="1"/>
          <p:nvPr/>
        </p:nvSpPr>
        <p:spPr>
          <a:xfrm>
            <a:off x="594360" y="4983480"/>
            <a:ext cx="5212080" cy="4480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52655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Review sample collections, service demand and consultations by stage.</a:t>
            </a:r>
            <a:endParaRPr lang="en-US" sz="1500" dirty="0"/>
          </a:p>
        </p:txBody>
      </p:sp>
      <p:sp>
        <p:nvSpPr>
          <p:cNvPr id="13" name="Shape 11"/>
          <p:cNvSpPr/>
          <p:nvPr/>
        </p:nvSpPr>
        <p:spPr>
          <a:xfrm>
            <a:off x="6537960" y="2606040"/>
            <a:ext cx="5029200" cy="3108960"/>
          </a:xfrm>
          <a:prstGeom prst="rect">
            <a:avLst/>
          </a:prstGeom>
          <a:solidFill>
            <a:srgbClr val="173F35"/>
          </a:solidFill>
          <a:ln w="12700">
            <a:solidFill>
              <a:srgbClr val="173F35">
                <a:alpha val="0"/>
              </a:srgbClr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6812280" y="2898648"/>
            <a:ext cx="4480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spc="110" kern="0" dirty="0">
                <a:solidFill>
                  <a:srgbClr val="B7975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MANAGEMENT QUESTIONS</a:t>
            </a:r>
            <a:endParaRPr lang="en-US" sz="1100" dirty="0"/>
          </a:p>
        </p:txBody>
      </p:sp>
      <p:sp>
        <p:nvSpPr>
          <p:cNvPr id="15" name="Text 13"/>
          <p:cNvSpPr txBox="1"/>
          <p:nvPr/>
        </p:nvSpPr>
        <p:spPr>
          <a:xfrm>
            <a:off x="6812280" y="3502152"/>
            <a:ext cx="44805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9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What needs assignment?</a:t>
            </a:r>
            <a:endParaRPr lang="en-US" sz="1900" dirty="0"/>
          </a:p>
        </p:txBody>
      </p:sp>
      <p:sp>
        <p:nvSpPr>
          <p:cNvPr id="16" name="Text 14"/>
          <p:cNvSpPr txBox="1"/>
          <p:nvPr/>
        </p:nvSpPr>
        <p:spPr>
          <a:xfrm>
            <a:off x="6812280" y="3959352"/>
            <a:ext cx="44805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9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Where is work waiting?</a:t>
            </a:r>
            <a:endParaRPr lang="en-US" sz="1900" dirty="0"/>
          </a:p>
        </p:txBody>
      </p:sp>
      <p:sp>
        <p:nvSpPr>
          <p:cNvPr id="17" name="Text 15"/>
          <p:cNvSpPr txBox="1"/>
          <p:nvPr/>
        </p:nvSpPr>
        <p:spPr>
          <a:xfrm>
            <a:off x="6812280" y="4416552"/>
            <a:ext cx="44805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9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Which services are in demand?</a:t>
            </a:r>
            <a:endParaRPr lang="en-US" sz="1900" dirty="0"/>
          </a:p>
        </p:txBody>
      </p:sp>
      <p:sp>
        <p:nvSpPr>
          <p:cNvPr id="18" name="Text 16"/>
          <p:cNvSpPr txBox="1"/>
          <p:nvPr/>
        </p:nvSpPr>
        <p:spPr>
          <a:xfrm>
            <a:off x="6812280" y="4873752"/>
            <a:ext cx="44805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9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What has been collected?</a:t>
            </a:r>
            <a:endParaRPr lang="en-US" sz="19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47472"/>
            <a:ext cx="10058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spc="180" kern="0" dirty="0">
                <a:solidFill>
                  <a:srgbClr val="52655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ACROSS WEBSITE &amp; APP</a:t>
            </a:r>
            <a:endParaRPr lang="en-US" sz="10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868680"/>
            <a:ext cx="1106424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400" dirty="0">
                <a:solidFill>
                  <a:srgbClr val="17362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firm journey, from request to closure.</a:t>
            </a:r>
            <a:endParaRPr lang="en-US" sz="34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6419088"/>
            <a:ext cx="7315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spc="100" kern="0" dirty="0">
                <a:solidFill>
                  <a:srgbClr val="52655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YOUR FIRM</a:t>
            </a:r>
            <a:endParaRPr lang="en-US" sz="900" dirty="0"/>
          </a:p>
        </p:txBody>
      </p:sp>
      <p:sp>
        <p:nvSpPr>
          <p:cNvPr id="5" name="Text 3"/>
          <p:cNvSpPr txBox="1"/>
          <p:nvPr/>
        </p:nvSpPr>
        <p:spPr>
          <a:xfrm>
            <a:off x="10972800" y="6400800"/>
            <a:ext cx="5943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000" dirty="0">
                <a:solidFill>
                  <a:srgbClr val="52655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09</a:t>
            </a:r>
            <a:endParaRPr lang="en-US" sz="1000" dirty="0"/>
          </a:p>
        </p:txBody>
      </p:sp>
      <p:sp>
        <p:nvSpPr>
          <p:cNvPr id="6" name="Text 4"/>
          <p:cNvSpPr txBox="1"/>
          <p:nvPr/>
        </p:nvSpPr>
        <p:spPr>
          <a:xfrm>
            <a:off x="594360" y="1645920"/>
            <a:ext cx="74980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rgbClr val="52655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WEBSITE · INSIGHTS</a:t>
            </a:r>
            <a:endParaRPr lang="en-US" sz="1100" dirty="0"/>
          </a:p>
        </p:txBody>
      </p:sp>
      <p:sp>
        <p:nvSpPr>
          <p:cNvPr id="7" name="Text 5"/>
          <p:cNvSpPr txBox="1"/>
          <p:nvPr/>
        </p:nvSpPr>
        <p:spPr>
          <a:xfrm>
            <a:off x="9052560" y="1645920"/>
            <a:ext cx="24688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rgbClr val="52655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APP · LAWYERS</a:t>
            </a:r>
            <a:endParaRPr lang="en-US" sz="1100" dirty="0"/>
          </a:p>
        </p:txBody>
      </p:sp>
      <p:pic>
        <p:nvPicPr>
          <p:cNvPr id="8" name="Image 0" descr="/Users/pinkman/Documents/Codex/2026-09-24/continue-the-lawyer-app-demo-in/work/role-visuals/admin-web-clean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94360" y="1993392"/>
            <a:ext cx="7406640" cy="3969410"/>
          </a:xfrm>
          <a:prstGeom prst="rect">
            <a:avLst/>
          </a:prstGeom>
        </p:spPr>
      </p:pic>
      <p:pic>
        <p:nvPicPr>
          <p:cNvPr id="9" name="Image 1" descr="/Users/pinkman/Documents/Codex/2026-09-24/continue-the-lawyer-app-demo-in/work/role-visuals/admin-mobile-clean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052560" y="1993392"/>
            <a:ext cx="2011680" cy="3992270"/>
          </a:xfrm>
          <a:prstGeom prst="rect">
            <a:avLst/>
          </a:prstGeom>
        </p:spPr>
      </p:pic>
      <p:sp>
        <p:nvSpPr>
          <p:cNvPr id="10" name="Shape 6"/>
          <p:cNvSpPr/>
          <p:nvPr/>
        </p:nvSpPr>
        <p:spPr>
          <a:xfrm>
            <a:off x="594360" y="6053328"/>
            <a:ext cx="10469880" cy="301752"/>
          </a:xfrm>
          <a:prstGeom prst="rect">
            <a:avLst/>
          </a:prstGeom>
          <a:solidFill>
            <a:srgbClr val="173F35"/>
          </a:solidFill>
          <a:ln w="12700">
            <a:solidFill>
              <a:srgbClr val="173F35">
                <a:alpha val="0"/>
              </a:srgbClr>
            </a:solidFill>
            <a:prstDash val="solid"/>
          </a:ln>
        </p:spPr>
      </p:sp>
      <p:sp>
        <p:nvSpPr>
          <p:cNvPr id="11" name="Text 7"/>
          <p:cNvSpPr txBox="1"/>
          <p:nvPr/>
        </p:nvSpPr>
        <p:spPr>
          <a:xfrm>
            <a:off x="758952" y="6108192"/>
            <a:ext cx="101498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Review requests → Assign → Track progress → Review payments and outcomes → Close or reopen</a:t>
            </a:r>
            <a:endParaRPr lang="en-US" sz="125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47472"/>
            <a:ext cx="10058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spc="180" kern="0" dirty="0">
                <a:solidFill>
                  <a:srgbClr val="52655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DOCUMENTS &amp; ADVICE</a:t>
            </a:r>
            <a:endParaRPr lang="en-US" sz="10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868680"/>
            <a:ext cx="1106424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400" dirty="0">
                <a:solidFill>
                  <a:srgbClr val="17362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Share the advice. Control the internal record.</a:t>
            </a:r>
            <a:endParaRPr lang="en-US" sz="3400" dirty="0"/>
          </a:p>
        </p:txBody>
      </p:sp>
      <p:sp>
        <p:nvSpPr>
          <p:cNvPr id="4" name="Text 2"/>
          <p:cNvSpPr txBox="1"/>
          <p:nvPr/>
        </p:nvSpPr>
        <p:spPr>
          <a:xfrm>
            <a:off x="566928" y="1856232"/>
            <a:ext cx="107899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52655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consultation links the documents, but does not make every note client-visible.</a:t>
            </a:r>
            <a:endParaRPr lang="en-US" sz="160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6419088"/>
            <a:ext cx="7315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spc="100" kern="0" dirty="0">
                <a:solidFill>
                  <a:srgbClr val="52655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YOUR FIRM</a:t>
            </a:r>
            <a:endParaRPr lang="en-US" sz="900" dirty="0"/>
          </a:p>
        </p:txBody>
      </p:sp>
      <p:sp>
        <p:nvSpPr>
          <p:cNvPr id="6" name="Text 4"/>
          <p:cNvSpPr txBox="1"/>
          <p:nvPr/>
        </p:nvSpPr>
        <p:spPr>
          <a:xfrm>
            <a:off x="10972800" y="6400800"/>
            <a:ext cx="5943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000" dirty="0">
                <a:solidFill>
                  <a:srgbClr val="52655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</a:t>
            </a:r>
            <a:endParaRPr lang="en-US" sz="1000" dirty="0"/>
          </a:p>
        </p:txBody>
      </p:sp>
      <p:sp>
        <p:nvSpPr>
          <p:cNvPr id="7" name="Shape 5"/>
          <p:cNvSpPr/>
          <p:nvPr/>
        </p:nvSpPr>
        <p:spPr>
          <a:xfrm>
            <a:off x="548640" y="2606040"/>
            <a:ext cx="3493008" cy="2880360"/>
          </a:xfrm>
          <a:prstGeom prst="rect">
            <a:avLst/>
          </a:prstGeom>
          <a:solidFill>
            <a:srgbClr val="EFF4F0"/>
          </a:solidFill>
          <a:ln w="12700">
            <a:solidFill>
              <a:srgbClr val="EFF4F0">
                <a:alpha val="0"/>
              </a:srgbClr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768096" y="2825496"/>
            <a:ext cx="3054096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500" dirty="0">
                <a:solidFill>
                  <a:srgbClr val="173F35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01</a:t>
            </a:r>
            <a:endParaRPr lang="en-US" sz="2500" dirty="0"/>
          </a:p>
        </p:txBody>
      </p:sp>
      <p:sp>
        <p:nvSpPr>
          <p:cNvPr id="9" name="Text 7"/>
          <p:cNvSpPr txBox="1"/>
          <p:nvPr/>
        </p:nvSpPr>
        <p:spPr>
          <a:xfrm>
            <a:off x="768096" y="3447288"/>
            <a:ext cx="3054096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b="1" dirty="0">
                <a:solidFill>
                  <a:srgbClr val="17362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Client documents</a:t>
            </a:r>
            <a:endParaRPr lang="en-US" sz="2200" dirty="0"/>
          </a:p>
        </p:txBody>
      </p:sp>
      <p:sp>
        <p:nvSpPr>
          <p:cNvPr id="10" name="Text 8"/>
          <p:cNvSpPr txBox="1"/>
          <p:nvPr/>
        </p:nvSpPr>
        <p:spPr>
          <a:xfrm>
            <a:off x="768096" y="4114800"/>
            <a:ext cx="3054096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dirty="0">
                <a:solidFill>
                  <a:srgbClr val="52655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Upload and maintain Word, PDF and JPEG files against the booking. Track requests and review progress.</a:t>
            </a:r>
            <a:endParaRPr lang="en-US" sz="1700" dirty="0"/>
          </a:p>
        </p:txBody>
      </p:sp>
      <p:sp>
        <p:nvSpPr>
          <p:cNvPr id="11" name="Shape 9"/>
          <p:cNvSpPr/>
          <p:nvPr/>
        </p:nvSpPr>
        <p:spPr>
          <a:xfrm>
            <a:off x="4343400" y="2606040"/>
            <a:ext cx="3493008" cy="2880360"/>
          </a:xfrm>
          <a:prstGeom prst="rect">
            <a:avLst/>
          </a:prstGeom>
          <a:solidFill>
            <a:srgbClr val="EFF4F0"/>
          </a:solidFill>
          <a:ln w="12700">
            <a:solidFill>
              <a:srgbClr val="EFF4F0">
                <a:alpha val="0"/>
              </a:srgbClr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4562856" y="2825496"/>
            <a:ext cx="3054096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500" dirty="0">
                <a:solidFill>
                  <a:srgbClr val="173F35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02</a:t>
            </a:r>
            <a:endParaRPr lang="en-US" sz="2500" dirty="0"/>
          </a:p>
        </p:txBody>
      </p:sp>
      <p:sp>
        <p:nvSpPr>
          <p:cNvPr id="13" name="Text 11"/>
          <p:cNvSpPr txBox="1"/>
          <p:nvPr/>
        </p:nvSpPr>
        <p:spPr>
          <a:xfrm>
            <a:off x="4562856" y="3447288"/>
            <a:ext cx="3054096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b="1" dirty="0">
                <a:solidFill>
                  <a:srgbClr val="17362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Internal outcome</a:t>
            </a:r>
            <a:endParaRPr lang="en-US" sz="2200" dirty="0"/>
          </a:p>
        </p:txBody>
      </p:sp>
      <p:sp>
        <p:nvSpPr>
          <p:cNvPr id="14" name="Text 12"/>
          <p:cNvSpPr txBox="1"/>
          <p:nvPr/>
        </p:nvSpPr>
        <p:spPr>
          <a:xfrm>
            <a:off x="4562856" y="4114800"/>
            <a:ext cx="3054096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dirty="0">
                <a:solidFill>
                  <a:srgbClr val="52655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assigned lawyer records working notes and the outcome for authorised firm users.</a:t>
            </a:r>
            <a:endParaRPr lang="en-US" sz="1700" dirty="0"/>
          </a:p>
        </p:txBody>
      </p:sp>
      <p:sp>
        <p:nvSpPr>
          <p:cNvPr id="15" name="Shape 13"/>
          <p:cNvSpPr/>
          <p:nvPr/>
        </p:nvSpPr>
        <p:spPr>
          <a:xfrm>
            <a:off x="8138160" y="2606040"/>
            <a:ext cx="3493008" cy="2880360"/>
          </a:xfrm>
          <a:prstGeom prst="rect">
            <a:avLst/>
          </a:prstGeom>
          <a:solidFill>
            <a:srgbClr val="EFF4F0"/>
          </a:solidFill>
          <a:ln w="12700">
            <a:solidFill>
              <a:srgbClr val="EFF4F0">
                <a:alpha val="0"/>
              </a:srgbClr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8357616" y="2825496"/>
            <a:ext cx="3054096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500" dirty="0">
                <a:solidFill>
                  <a:srgbClr val="173F35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03</a:t>
            </a:r>
            <a:endParaRPr lang="en-US" sz="2500" dirty="0"/>
          </a:p>
        </p:txBody>
      </p:sp>
      <p:sp>
        <p:nvSpPr>
          <p:cNvPr id="17" name="Text 15"/>
          <p:cNvSpPr txBox="1"/>
          <p:nvPr/>
        </p:nvSpPr>
        <p:spPr>
          <a:xfrm>
            <a:off x="8357616" y="3447288"/>
            <a:ext cx="3054096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b="1" dirty="0">
                <a:solidFill>
                  <a:srgbClr val="17362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Shared summary</a:t>
            </a:r>
            <a:endParaRPr lang="en-US" sz="2200" dirty="0"/>
          </a:p>
        </p:txBody>
      </p:sp>
      <p:sp>
        <p:nvSpPr>
          <p:cNvPr id="18" name="Text 16"/>
          <p:cNvSpPr txBox="1"/>
          <p:nvPr/>
        </p:nvSpPr>
        <p:spPr>
          <a:xfrm>
            <a:off x="8357616" y="4114800"/>
            <a:ext cx="3054096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dirty="0">
                <a:solidFill>
                  <a:srgbClr val="52655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client receives a separate summary, agreed actions and any follow-up requirement.</a:t>
            </a:r>
            <a:endParaRPr lang="en-US" sz="1700" dirty="0"/>
          </a:p>
        </p:txBody>
      </p:sp>
      <p:sp>
        <p:nvSpPr>
          <p:cNvPr id="19" name="Shape 17"/>
          <p:cNvSpPr/>
          <p:nvPr/>
        </p:nvSpPr>
        <p:spPr>
          <a:xfrm>
            <a:off x="548640" y="5715000"/>
            <a:ext cx="11064240" cy="475488"/>
          </a:xfrm>
          <a:prstGeom prst="rect">
            <a:avLst/>
          </a:prstGeom>
          <a:solidFill>
            <a:srgbClr val="EFF4F0"/>
          </a:solidFill>
          <a:ln w="12700">
            <a:solidFill>
              <a:srgbClr val="EFF4F0">
                <a:alpha val="0"/>
              </a:srgbClr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731520" y="5824728"/>
            <a:ext cx="10698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52655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Production delivery requires private file storage, server-enforced access, retention rules and auditable changes.</a:t>
            </a:r>
            <a:endParaRPr lang="en-US" sz="12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47472"/>
            <a:ext cx="10058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spc="180" kern="0" dirty="0">
                <a:solidFill>
                  <a:srgbClr val="52655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PAYMENTS &amp; APPOINTMENT RULES</a:t>
            </a:r>
            <a:endParaRPr lang="en-US" sz="10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868680"/>
            <a:ext cx="1106424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400" dirty="0">
                <a:solidFill>
                  <a:srgbClr val="17362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Agree the commercial journey before launch.</a:t>
            </a:r>
            <a:endParaRPr lang="en-US" sz="3400" dirty="0"/>
          </a:p>
        </p:txBody>
      </p:sp>
      <p:sp>
        <p:nvSpPr>
          <p:cNvPr id="4" name="Text 2"/>
          <p:cNvSpPr txBox="1"/>
          <p:nvPr/>
        </p:nvSpPr>
        <p:spPr>
          <a:xfrm>
            <a:off x="566928" y="1856232"/>
            <a:ext cx="107899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52655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original proposal includes both booking payment and an hours-based payment after consultation.</a:t>
            </a:r>
            <a:endParaRPr lang="en-US" sz="160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6419088"/>
            <a:ext cx="7315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spc="100" kern="0" dirty="0">
                <a:solidFill>
                  <a:srgbClr val="52655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YOUR FIRM</a:t>
            </a:r>
            <a:endParaRPr lang="en-US" sz="900" dirty="0"/>
          </a:p>
        </p:txBody>
      </p:sp>
      <p:sp>
        <p:nvSpPr>
          <p:cNvPr id="6" name="Text 4"/>
          <p:cNvSpPr txBox="1"/>
          <p:nvPr/>
        </p:nvSpPr>
        <p:spPr>
          <a:xfrm>
            <a:off x="10972800" y="6400800"/>
            <a:ext cx="5943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000" dirty="0">
                <a:solidFill>
                  <a:srgbClr val="52655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11</a:t>
            </a:r>
            <a:endParaRPr lang="en-US" sz="1000" dirty="0"/>
          </a:p>
        </p:txBody>
      </p:sp>
      <p:sp>
        <p:nvSpPr>
          <p:cNvPr id="7" name="Shape 5"/>
          <p:cNvSpPr/>
          <p:nvPr/>
        </p:nvSpPr>
        <p:spPr>
          <a:xfrm>
            <a:off x="548640" y="2651760"/>
            <a:ext cx="5349240" cy="2450592"/>
          </a:xfrm>
          <a:prstGeom prst="rect">
            <a:avLst/>
          </a:prstGeom>
          <a:solidFill>
            <a:srgbClr val="EFF4F0"/>
          </a:solidFill>
          <a:ln w="12700">
            <a:solidFill>
              <a:srgbClr val="EFF4F0">
                <a:alpha val="0"/>
              </a:srgbClr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822960" y="2907792"/>
            <a:ext cx="47548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52655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AT BOOKING</a:t>
            </a:r>
            <a:endParaRPr lang="en-US" sz="1200" dirty="0"/>
          </a:p>
        </p:txBody>
      </p:sp>
      <p:sp>
        <p:nvSpPr>
          <p:cNvPr id="9" name="Text 7"/>
          <p:cNvSpPr txBox="1"/>
          <p:nvPr/>
        </p:nvSpPr>
        <p:spPr>
          <a:xfrm>
            <a:off x="822960" y="3429000"/>
            <a:ext cx="47548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900" dirty="0">
                <a:solidFill>
                  <a:srgbClr val="173F35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Deposit or full fee?</a:t>
            </a:r>
            <a:endParaRPr lang="en-US" sz="2900" dirty="0"/>
          </a:p>
        </p:txBody>
      </p:sp>
      <p:sp>
        <p:nvSpPr>
          <p:cNvPr id="10" name="Text 8"/>
          <p:cNvSpPr txBox="1"/>
          <p:nvPr/>
        </p:nvSpPr>
        <p:spPr>
          <a:xfrm>
            <a:off x="822960" y="4251960"/>
            <a:ext cx="461772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dirty="0">
                <a:solidFill>
                  <a:srgbClr val="52655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Define when the slot is reserved and how long the client has to pay.</a:t>
            </a:r>
            <a:endParaRPr lang="en-US" sz="1800" dirty="0"/>
          </a:p>
        </p:txBody>
      </p:sp>
      <p:sp>
        <p:nvSpPr>
          <p:cNvPr id="11" name="Shape 9"/>
          <p:cNvSpPr/>
          <p:nvPr/>
        </p:nvSpPr>
        <p:spPr>
          <a:xfrm>
            <a:off x="6217920" y="2651760"/>
            <a:ext cx="5349240" cy="2450592"/>
          </a:xfrm>
          <a:prstGeom prst="rect">
            <a:avLst/>
          </a:prstGeom>
          <a:solidFill>
            <a:srgbClr val="173F35"/>
          </a:solidFill>
          <a:ln w="12700">
            <a:solidFill>
              <a:srgbClr val="173F35">
                <a:alpha val="0"/>
              </a:srgbClr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6492240" y="2907792"/>
            <a:ext cx="47548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B7975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AFTER CONSULTATION</a:t>
            </a:r>
            <a:endParaRPr lang="en-US" sz="1200" dirty="0"/>
          </a:p>
        </p:txBody>
      </p:sp>
      <p:sp>
        <p:nvSpPr>
          <p:cNvPr id="13" name="Text 11"/>
          <p:cNvSpPr txBox="1"/>
          <p:nvPr/>
        </p:nvSpPr>
        <p:spPr>
          <a:xfrm>
            <a:off x="6492240" y="3429000"/>
            <a:ext cx="47548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900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Time, rate and balance</a:t>
            </a:r>
            <a:endParaRPr lang="en-US" sz="2900" dirty="0"/>
          </a:p>
        </p:txBody>
      </p:sp>
      <p:sp>
        <p:nvSpPr>
          <p:cNvPr id="14" name="Text 12"/>
          <p:cNvSpPr txBox="1"/>
          <p:nvPr/>
        </p:nvSpPr>
        <p:spPr>
          <a:xfrm>
            <a:off x="6492240" y="4251960"/>
            <a:ext cx="461772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dirty="0">
                <a:solidFill>
                  <a:srgbClr val="DDE8E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Agree duration approval, rounding and how earlier payments are reconciled.</a:t>
            </a:r>
            <a:endParaRPr lang="en-US" sz="1800" dirty="0"/>
          </a:p>
        </p:txBody>
      </p:sp>
      <p:sp>
        <p:nvSpPr>
          <p:cNvPr id="15" name="Shape 13"/>
          <p:cNvSpPr/>
          <p:nvPr/>
        </p:nvSpPr>
        <p:spPr>
          <a:xfrm>
            <a:off x="548640" y="5715000"/>
            <a:ext cx="11064240" cy="475488"/>
          </a:xfrm>
          <a:prstGeom prst="rect">
            <a:avLst/>
          </a:prstGeom>
          <a:solidFill>
            <a:srgbClr val="EFF4F0"/>
          </a:solidFill>
          <a:ln w="12700">
            <a:solidFill>
              <a:srgbClr val="EFF4F0">
                <a:alpha val="0"/>
              </a:srgbClr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731520" y="5824728"/>
            <a:ext cx="10698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52655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Also decide: supported currencies • cancellations and refunds • no-shows • paid follow-ups. No live charges in the demo.</a:t>
            </a:r>
            <a:endParaRPr lang="en-US" sz="12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47472"/>
            <a:ext cx="10058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spc="180" kern="0" dirty="0">
                <a:solidFill>
                  <a:srgbClr val="52655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BEYOND THE INITIAL REQUIREMENTS</a:t>
            </a:r>
            <a:endParaRPr lang="en-US" sz="10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868680"/>
            <a:ext cx="1106424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400" dirty="0">
                <a:solidFill>
                  <a:srgbClr val="17362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Useful improvements around the core service.</a:t>
            </a:r>
            <a:endParaRPr lang="en-US" sz="3400" dirty="0"/>
          </a:p>
        </p:txBody>
      </p:sp>
      <p:sp>
        <p:nvSpPr>
          <p:cNvPr id="4" name="Text 2"/>
          <p:cNvSpPr txBox="1"/>
          <p:nvPr/>
        </p:nvSpPr>
        <p:spPr>
          <a:xfrm>
            <a:off x="566928" y="1856232"/>
            <a:ext cx="107899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52655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OTP, profile editing, payments and account management were already requirements. These are additional workflow improvements.</a:t>
            </a:r>
            <a:endParaRPr lang="en-US" sz="160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6419088"/>
            <a:ext cx="7315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spc="100" kern="0" dirty="0">
                <a:solidFill>
                  <a:srgbClr val="52655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YOUR FIRM</a:t>
            </a:r>
            <a:endParaRPr lang="en-US" sz="900" dirty="0"/>
          </a:p>
        </p:txBody>
      </p:sp>
      <p:sp>
        <p:nvSpPr>
          <p:cNvPr id="6" name="Text 4"/>
          <p:cNvSpPr txBox="1"/>
          <p:nvPr/>
        </p:nvSpPr>
        <p:spPr>
          <a:xfrm>
            <a:off x="10972800" y="6400800"/>
            <a:ext cx="5943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000" dirty="0">
                <a:solidFill>
                  <a:srgbClr val="52655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12</a:t>
            </a:r>
            <a:endParaRPr lang="en-US" sz="1000" dirty="0"/>
          </a:p>
        </p:txBody>
      </p:sp>
      <p:sp>
        <p:nvSpPr>
          <p:cNvPr id="7" name="Text 5"/>
          <p:cNvSpPr txBox="1"/>
          <p:nvPr/>
        </p:nvSpPr>
        <p:spPr>
          <a:xfrm>
            <a:off x="594360" y="2651760"/>
            <a:ext cx="594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800" dirty="0">
                <a:solidFill>
                  <a:srgbClr val="B7975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01</a:t>
            </a:r>
            <a:endParaRPr lang="en-US" sz="2800" dirty="0"/>
          </a:p>
        </p:txBody>
      </p:sp>
      <p:sp>
        <p:nvSpPr>
          <p:cNvPr id="8" name="Text 6"/>
          <p:cNvSpPr txBox="1"/>
          <p:nvPr/>
        </p:nvSpPr>
        <p:spPr>
          <a:xfrm>
            <a:off x="1371600" y="2651760"/>
            <a:ext cx="45720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rgbClr val="17362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Guided service selection</a:t>
            </a:r>
            <a:endParaRPr lang="en-US" sz="2000" dirty="0"/>
          </a:p>
        </p:txBody>
      </p:sp>
      <p:sp>
        <p:nvSpPr>
          <p:cNvPr id="9" name="Text 7"/>
          <p:cNvSpPr txBox="1"/>
          <p:nvPr/>
        </p:nvSpPr>
        <p:spPr>
          <a:xfrm>
            <a:off x="1371600" y="3154680"/>
            <a:ext cx="45262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dirty="0">
                <a:solidFill>
                  <a:srgbClr val="52655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Help uncertain visitors reach a suitable consultation.</a:t>
            </a:r>
            <a:endParaRPr lang="en-US" sz="1700" dirty="0"/>
          </a:p>
        </p:txBody>
      </p:sp>
      <p:sp>
        <p:nvSpPr>
          <p:cNvPr id="10" name="Text 8"/>
          <p:cNvSpPr txBox="1"/>
          <p:nvPr/>
        </p:nvSpPr>
        <p:spPr>
          <a:xfrm>
            <a:off x="6263640" y="2651760"/>
            <a:ext cx="594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800" dirty="0">
                <a:solidFill>
                  <a:srgbClr val="B7975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02</a:t>
            </a:r>
            <a:endParaRPr lang="en-US" sz="2800" dirty="0"/>
          </a:p>
        </p:txBody>
      </p:sp>
      <p:sp>
        <p:nvSpPr>
          <p:cNvPr id="11" name="Text 9"/>
          <p:cNvSpPr txBox="1"/>
          <p:nvPr/>
        </p:nvSpPr>
        <p:spPr>
          <a:xfrm>
            <a:off x="7040880" y="2651760"/>
            <a:ext cx="45720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rgbClr val="17362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Separate client summaries</a:t>
            </a:r>
            <a:endParaRPr lang="en-US" sz="2000" dirty="0"/>
          </a:p>
        </p:txBody>
      </p:sp>
      <p:sp>
        <p:nvSpPr>
          <p:cNvPr id="12" name="Text 10"/>
          <p:cNvSpPr txBox="1"/>
          <p:nvPr/>
        </p:nvSpPr>
        <p:spPr>
          <a:xfrm>
            <a:off x="7040880" y="3154680"/>
            <a:ext cx="45262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dirty="0">
                <a:solidFill>
                  <a:srgbClr val="52655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Keep internal outcomes distinct from client-facing advice.</a:t>
            </a:r>
            <a:endParaRPr lang="en-US" sz="1700" dirty="0"/>
          </a:p>
        </p:txBody>
      </p:sp>
      <p:sp>
        <p:nvSpPr>
          <p:cNvPr id="13" name="Text 11"/>
          <p:cNvSpPr txBox="1"/>
          <p:nvPr/>
        </p:nvSpPr>
        <p:spPr>
          <a:xfrm>
            <a:off x="594360" y="4069080"/>
            <a:ext cx="594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800" dirty="0">
                <a:solidFill>
                  <a:srgbClr val="B7975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03</a:t>
            </a:r>
            <a:endParaRPr lang="en-US" sz="2800" dirty="0"/>
          </a:p>
        </p:txBody>
      </p:sp>
      <p:sp>
        <p:nvSpPr>
          <p:cNvPr id="14" name="Text 12"/>
          <p:cNvSpPr txBox="1"/>
          <p:nvPr/>
        </p:nvSpPr>
        <p:spPr>
          <a:xfrm>
            <a:off x="1371600" y="4069080"/>
            <a:ext cx="45720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rgbClr val="17362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Document preparation</a:t>
            </a:r>
            <a:endParaRPr lang="en-US" sz="2000" dirty="0"/>
          </a:p>
        </p:txBody>
      </p:sp>
      <p:sp>
        <p:nvSpPr>
          <p:cNvPr id="15" name="Text 13"/>
          <p:cNvSpPr txBox="1"/>
          <p:nvPr/>
        </p:nvSpPr>
        <p:spPr>
          <a:xfrm>
            <a:off x="1371600" y="4572000"/>
            <a:ext cx="45262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dirty="0">
                <a:solidFill>
                  <a:srgbClr val="52655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Request missing items and track versions and review status.</a:t>
            </a:r>
            <a:endParaRPr lang="en-US" sz="1700" dirty="0"/>
          </a:p>
        </p:txBody>
      </p:sp>
      <p:sp>
        <p:nvSpPr>
          <p:cNvPr id="16" name="Text 14"/>
          <p:cNvSpPr txBox="1"/>
          <p:nvPr/>
        </p:nvSpPr>
        <p:spPr>
          <a:xfrm>
            <a:off x="6263640" y="4069080"/>
            <a:ext cx="594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800" dirty="0">
                <a:solidFill>
                  <a:srgbClr val="B7975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04</a:t>
            </a:r>
            <a:endParaRPr lang="en-US" sz="2800" dirty="0"/>
          </a:p>
        </p:txBody>
      </p:sp>
      <p:sp>
        <p:nvSpPr>
          <p:cNvPr id="17" name="Text 15"/>
          <p:cNvSpPr txBox="1"/>
          <p:nvPr/>
        </p:nvSpPr>
        <p:spPr>
          <a:xfrm>
            <a:off x="7040880" y="4069080"/>
            <a:ext cx="45720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rgbClr val="17362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Controlled follow-through</a:t>
            </a:r>
            <a:endParaRPr lang="en-US" sz="2000" dirty="0"/>
          </a:p>
        </p:txBody>
      </p:sp>
      <p:sp>
        <p:nvSpPr>
          <p:cNvPr id="18" name="Text 16"/>
          <p:cNvSpPr txBox="1"/>
          <p:nvPr/>
        </p:nvSpPr>
        <p:spPr>
          <a:xfrm>
            <a:off x="7040880" y="4572000"/>
            <a:ext cx="45262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dirty="0">
                <a:solidFill>
                  <a:srgbClr val="52655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Link follow-up work, approve rescheduling and check closure readiness.</a:t>
            </a:r>
            <a:endParaRPr lang="en-US" sz="17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47472"/>
            <a:ext cx="10058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spc="180" kern="0" dirty="0">
                <a:solidFill>
                  <a:srgbClr val="52655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DELIVERY SCOPE</a:t>
            </a:r>
            <a:endParaRPr lang="en-US" sz="10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868680"/>
            <a:ext cx="1106424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400" dirty="0">
                <a:solidFill>
                  <a:srgbClr val="17362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From demonstration to daily operation.</a:t>
            </a:r>
            <a:endParaRPr lang="en-US" sz="3400" dirty="0"/>
          </a:p>
        </p:txBody>
      </p:sp>
      <p:sp>
        <p:nvSpPr>
          <p:cNvPr id="4" name="Text 2"/>
          <p:cNvSpPr txBox="1"/>
          <p:nvPr/>
        </p:nvSpPr>
        <p:spPr>
          <a:xfrm>
            <a:off x="566928" y="1856232"/>
            <a:ext cx="107899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52655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published experience lets the firm review journeys; it does not yet run real consultations.</a:t>
            </a:r>
            <a:endParaRPr lang="en-US" sz="160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6419088"/>
            <a:ext cx="7315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spc="100" kern="0" dirty="0">
                <a:solidFill>
                  <a:srgbClr val="52655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YOUR FIRM</a:t>
            </a:r>
            <a:endParaRPr lang="en-US" sz="900" dirty="0"/>
          </a:p>
        </p:txBody>
      </p:sp>
      <p:sp>
        <p:nvSpPr>
          <p:cNvPr id="6" name="Text 4"/>
          <p:cNvSpPr txBox="1"/>
          <p:nvPr/>
        </p:nvSpPr>
        <p:spPr>
          <a:xfrm>
            <a:off x="10972800" y="6400800"/>
            <a:ext cx="5943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000" dirty="0">
                <a:solidFill>
                  <a:srgbClr val="52655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13</a:t>
            </a:r>
            <a:endParaRPr lang="en-US" sz="1000" dirty="0"/>
          </a:p>
        </p:txBody>
      </p:sp>
      <p:sp>
        <p:nvSpPr>
          <p:cNvPr id="7" name="Shape 5"/>
          <p:cNvSpPr/>
          <p:nvPr/>
        </p:nvSpPr>
        <p:spPr>
          <a:xfrm>
            <a:off x="548640" y="2606040"/>
            <a:ext cx="3493008" cy="2880360"/>
          </a:xfrm>
          <a:prstGeom prst="rect">
            <a:avLst/>
          </a:prstGeom>
          <a:solidFill>
            <a:srgbClr val="EFF4F0"/>
          </a:solidFill>
          <a:ln w="12700">
            <a:solidFill>
              <a:srgbClr val="EFF4F0">
                <a:alpha val="0"/>
              </a:srgbClr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768096" y="2825496"/>
            <a:ext cx="3054096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500" dirty="0">
                <a:solidFill>
                  <a:srgbClr val="173F35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Now</a:t>
            </a:r>
            <a:endParaRPr lang="en-US" sz="2500" dirty="0"/>
          </a:p>
        </p:txBody>
      </p:sp>
      <p:sp>
        <p:nvSpPr>
          <p:cNvPr id="9" name="Text 7"/>
          <p:cNvSpPr txBox="1"/>
          <p:nvPr/>
        </p:nvSpPr>
        <p:spPr>
          <a:xfrm>
            <a:off x="768096" y="3447288"/>
            <a:ext cx="3054096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b="1" dirty="0">
                <a:solidFill>
                  <a:srgbClr val="17362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Review the experience</a:t>
            </a:r>
            <a:endParaRPr lang="en-US" sz="2200" dirty="0"/>
          </a:p>
        </p:txBody>
      </p:sp>
      <p:sp>
        <p:nvSpPr>
          <p:cNvPr id="10" name="Text 8"/>
          <p:cNvSpPr txBox="1"/>
          <p:nvPr/>
        </p:nvSpPr>
        <p:spPr>
          <a:xfrm>
            <a:off x="768096" y="4114800"/>
            <a:ext cx="3054096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dirty="0">
                <a:solidFill>
                  <a:srgbClr val="52655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Role-based journeys, sample records, mock checkout and OTP, profile editing, people management and activity charts.</a:t>
            </a:r>
            <a:endParaRPr lang="en-US" sz="1700" dirty="0"/>
          </a:p>
        </p:txBody>
      </p:sp>
      <p:sp>
        <p:nvSpPr>
          <p:cNvPr id="11" name="Shape 9"/>
          <p:cNvSpPr/>
          <p:nvPr/>
        </p:nvSpPr>
        <p:spPr>
          <a:xfrm>
            <a:off x="4343400" y="2606040"/>
            <a:ext cx="3493008" cy="2880360"/>
          </a:xfrm>
          <a:prstGeom prst="rect">
            <a:avLst/>
          </a:prstGeom>
          <a:solidFill>
            <a:srgbClr val="EFF4F0"/>
          </a:solidFill>
          <a:ln w="12700">
            <a:solidFill>
              <a:srgbClr val="EFF4F0">
                <a:alpha val="0"/>
              </a:srgbClr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4562856" y="2825496"/>
            <a:ext cx="3054096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500" dirty="0">
                <a:solidFill>
                  <a:srgbClr val="173F35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Build</a:t>
            </a:r>
            <a:endParaRPr lang="en-US" sz="2500" dirty="0"/>
          </a:p>
        </p:txBody>
      </p:sp>
      <p:sp>
        <p:nvSpPr>
          <p:cNvPr id="13" name="Text 11"/>
          <p:cNvSpPr txBox="1"/>
          <p:nvPr/>
        </p:nvSpPr>
        <p:spPr>
          <a:xfrm>
            <a:off x="4562856" y="3447288"/>
            <a:ext cx="3054096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b="1" dirty="0">
                <a:solidFill>
                  <a:srgbClr val="17362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Connect real services</a:t>
            </a:r>
            <a:endParaRPr lang="en-US" sz="2200" dirty="0"/>
          </a:p>
        </p:txBody>
      </p:sp>
      <p:sp>
        <p:nvSpPr>
          <p:cNvPr id="14" name="Text 12"/>
          <p:cNvSpPr txBox="1"/>
          <p:nvPr/>
        </p:nvSpPr>
        <p:spPr>
          <a:xfrm>
            <a:off x="4562856" y="4114800"/>
            <a:ext cx="3054096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dirty="0">
                <a:solidFill>
                  <a:srgbClr val="52655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Shared database, private files, secure accounts, SMS, payment gateway, Meet links and reliable push reminders.</a:t>
            </a:r>
            <a:endParaRPr lang="en-US" sz="1700" dirty="0"/>
          </a:p>
        </p:txBody>
      </p:sp>
      <p:sp>
        <p:nvSpPr>
          <p:cNvPr id="15" name="Shape 13"/>
          <p:cNvSpPr/>
          <p:nvPr/>
        </p:nvSpPr>
        <p:spPr>
          <a:xfrm>
            <a:off x="8138160" y="2606040"/>
            <a:ext cx="3493008" cy="2880360"/>
          </a:xfrm>
          <a:prstGeom prst="rect">
            <a:avLst/>
          </a:prstGeom>
          <a:solidFill>
            <a:srgbClr val="EFF4F0"/>
          </a:solidFill>
          <a:ln w="12700">
            <a:solidFill>
              <a:srgbClr val="EFF4F0">
                <a:alpha val="0"/>
              </a:srgbClr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8357616" y="2825496"/>
            <a:ext cx="3054096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500" dirty="0">
                <a:solidFill>
                  <a:srgbClr val="173F35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Complete</a:t>
            </a:r>
            <a:endParaRPr lang="en-US" sz="2500" dirty="0"/>
          </a:p>
        </p:txBody>
      </p:sp>
      <p:sp>
        <p:nvSpPr>
          <p:cNvPr id="17" name="Text 15"/>
          <p:cNvSpPr txBox="1"/>
          <p:nvPr/>
        </p:nvSpPr>
        <p:spPr>
          <a:xfrm>
            <a:off x="8357616" y="3447288"/>
            <a:ext cx="3054096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b="1" dirty="0">
                <a:solidFill>
                  <a:srgbClr val="17362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Finish operating controls</a:t>
            </a:r>
            <a:endParaRPr lang="en-US" sz="2200" dirty="0"/>
          </a:p>
        </p:txBody>
      </p:sp>
      <p:sp>
        <p:nvSpPr>
          <p:cNvPr id="18" name="Text 16"/>
          <p:cNvSpPr txBox="1"/>
          <p:nvPr/>
        </p:nvSpPr>
        <p:spPr>
          <a:xfrm>
            <a:off x="8357616" y="4114800"/>
            <a:ext cx="3054096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dirty="0">
                <a:solidFill>
                  <a:srgbClr val="52655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Hourly settlement, currencies, holidays and booking cut-offs, password management, reports and Excel exports.</a:t>
            </a:r>
            <a:endParaRPr lang="en-US" sz="1700" dirty="0"/>
          </a:p>
        </p:txBody>
      </p:sp>
      <p:sp>
        <p:nvSpPr>
          <p:cNvPr id="19" name="Shape 17"/>
          <p:cNvSpPr/>
          <p:nvPr/>
        </p:nvSpPr>
        <p:spPr>
          <a:xfrm>
            <a:off x="548640" y="5715000"/>
            <a:ext cx="11064240" cy="475488"/>
          </a:xfrm>
          <a:prstGeom prst="rect">
            <a:avLst/>
          </a:prstGeom>
          <a:solidFill>
            <a:srgbClr val="EFF4F0"/>
          </a:solidFill>
          <a:ln w="12700">
            <a:solidFill>
              <a:srgbClr val="EFF4F0">
                <a:alpha val="0"/>
              </a:srgbClr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731520" y="5824728"/>
            <a:ext cx="10698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52655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Native Android/iOS delivery, app-store release and production device testing remain ahead. No launch date or price is committed here.</a:t>
            </a:r>
            <a:endParaRPr lang="en-US" sz="12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173F3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47472"/>
            <a:ext cx="10058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spc="180" kern="0" dirty="0">
                <a:solidFill>
                  <a:srgbClr val="B7975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ACCEPTANCE &amp; NEXT STEPS</a:t>
            </a:r>
            <a:endParaRPr lang="en-US" sz="10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868680"/>
            <a:ext cx="1106424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400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Approve the service. Validate the operation.</a:t>
            </a:r>
            <a:endParaRPr lang="en-US" sz="3400" dirty="0"/>
          </a:p>
        </p:txBody>
      </p:sp>
      <p:sp>
        <p:nvSpPr>
          <p:cNvPr id="4" name="Text 2"/>
          <p:cNvSpPr txBox="1"/>
          <p:nvPr/>
        </p:nvSpPr>
        <p:spPr>
          <a:xfrm>
            <a:off x="566928" y="1856232"/>
            <a:ext cx="107899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DDE8E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Progress is measured by complete journeys, not by the number of screens.</a:t>
            </a:r>
            <a:endParaRPr lang="en-US" sz="160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6419088"/>
            <a:ext cx="7315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spc="100" kern="0" dirty="0">
                <a:solidFill>
                  <a:srgbClr val="DDE8E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YOUR FIRM</a:t>
            </a:r>
            <a:endParaRPr lang="en-US" sz="900" dirty="0"/>
          </a:p>
        </p:txBody>
      </p:sp>
      <p:sp>
        <p:nvSpPr>
          <p:cNvPr id="6" name="Text 4"/>
          <p:cNvSpPr txBox="1"/>
          <p:nvPr/>
        </p:nvSpPr>
        <p:spPr>
          <a:xfrm>
            <a:off x="10972800" y="6400800"/>
            <a:ext cx="5943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000" dirty="0">
                <a:solidFill>
                  <a:srgbClr val="DDE8E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14</a:t>
            </a:r>
            <a:endParaRPr lang="en-US" sz="1000" dirty="0"/>
          </a:p>
        </p:txBody>
      </p:sp>
      <p:sp>
        <p:nvSpPr>
          <p:cNvPr id="7" name="Shape 5"/>
          <p:cNvSpPr/>
          <p:nvPr/>
        </p:nvSpPr>
        <p:spPr>
          <a:xfrm>
            <a:off x="548640" y="2606040"/>
            <a:ext cx="3493008" cy="2926080"/>
          </a:xfrm>
          <a:prstGeom prst="rect">
            <a:avLst/>
          </a:prstGeom>
          <a:solidFill>
            <a:srgbClr val="245144"/>
          </a:solidFill>
          <a:ln w="12700">
            <a:solidFill>
              <a:srgbClr val="245144">
                <a:alpha val="0"/>
              </a:srgbClr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768096" y="2825496"/>
            <a:ext cx="3054096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500" dirty="0">
                <a:solidFill>
                  <a:srgbClr val="B7975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01</a:t>
            </a:r>
            <a:endParaRPr lang="en-US" sz="2500" dirty="0"/>
          </a:p>
        </p:txBody>
      </p:sp>
      <p:sp>
        <p:nvSpPr>
          <p:cNvPr id="9" name="Text 7"/>
          <p:cNvSpPr txBox="1"/>
          <p:nvPr/>
        </p:nvSpPr>
        <p:spPr>
          <a:xfrm>
            <a:off x="768096" y="3447288"/>
            <a:ext cx="3054096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Confirm scope</a:t>
            </a:r>
            <a:endParaRPr lang="en-US" sz="2200" dirty="0"/>
          </a:p>
        </p:txBody>
      </p:sp>
      <p:sp>
        <p:nvSpPr>
          <p:cNvPr id="10" name="Text 8"/>
          <p:cNvSpPr txBox="1"/>
          <p:nvPr/>
        </p:nvSpPr>
        <p:spPr>
          <a:xfrm>
            <a:off x="768096" y="4114800"/>
            <a:ext cx="3054096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dirty="0">
                <a:solidFill>
                  <a:srgbClr val="DDE8E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Review this deck and the interactive journeys. Resolve the firm decisions and approve the requirements.</a:t>
            </a:r>
            <a:endParaRPr lang="en-US" sz="1700" dirty="0"/>
          </a:p>
        </p:txBody>
      </p:sp>
      <p:sp>
        <p:nvSpPr>
          <p:cNvPr id="11" name="Shape 9"/>
          <p:cNvSpPr/>
          <p:nvPr/>
        </p:nvSpPr>
        <p:spPr>
          <a:xfrm>
            <a:off x="4343400" y="2606040"/>
            <a:ext cx="3493008" cy="2926080"/>
          </a:xfrm>
          <a:prstGeom prst="rect">
            <a:avLst/>
          </a:prstGeom>
          <a:solidFill>
            <a:srgbClr val="245144"/>
          </a:solidFill>
          <a:ln w="12700">
            <a:solidFill>
              <a:srgbClr val="245144">
                <a:alpha val="0"/>
              </a:srgbClr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4562856" y="2825496"/>
            <a:ext cx="3054096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500" dirty="0">
                <a:solidFill>
                  <a:srgbClr val="B7975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02</a:t>
            </a:r>
            <a:endParaRPr lang="en-US" sz="2500" dirty="0"/>
          </a:p>
        </p:txBody>
      </p:sp>
      <p:sp>
        <p:nvSpPr>
          <p:cNvPr id="13" name="Text 11"/>
          <p:cNvSpPr txBox="1"/>
          <p:nvPr/>
        </p:nvSpPr>
        <p:spPr>
          <a:xfrm>
            <a:off x="4562856" y="3447288"/>
            <a:ext cx="3054096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Validate end to end</a:t>
            </a:r>
            <a:endParaRPr lang="en-US" sz="2200" dirty="0"/>
          </a:p>
        </p:txBody>
      </p:sp>
      <p:sp>
        <p:nvSpPr>
          <p:cNvPr id="14" name="Text 12"/>
          <p:cNvSpPr txBox="1"/>
          <p:nvPr/>
        </p:nvSpPr>
        <p:spPr>
          <a:xfrm>
            <a:off x="4562856" y="4114800"/>
            <a:ext cx="3054096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dirty="0">
                <a:solidFill>
                  <a:srgbClr val="DDE8E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Test booking, payment outcomes, private documents, role access, reminders and follow-up with connected services.</a:t>
            </a:r>
            <a:endParaRPr lang="en-US" sz="1700" dirty="0"/>
          </a:p>
        </p:txBody>
      </p:sp>
      <p:sp>
        <p:nvSpPr>
          <p:cNvPr id="15" name="Shape 13"/>
          <p:cNvSpPr/>
          <p:nvPr/>
        </p:nvSpPr>
        <p:spPr>
          <a:xfrm>
            <a:off x="8138160" y="2606040"/>
            <a:ext cx="3493008" cy="2926080"/>
          </a:xfrm>
          <a:prstGeom prst="rect">
            <a:avLst/>
          </a:prstGeom>
          <a:solidFill>
            <a:srgbClr val="245144"/>
          </a:solidFill>
          <a:ln w="12700">
            <a:solidFill>
              <a:srgbClr val="245144">
                <a:alpha val="0"/>
              </a:srgbClr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8357616" y="2825496"/>
            <a:ext cx="3054096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500" dirty="0">
                <a:solidFill>
                  <a:srgbClr val="B7975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03</a:t>
            </a:r>
            <a:endParaRPr lang="en-US" sz="2500" dirty="0"/>
          </a:p>
        </p:txBody>
      </p:sp>
      <p:sp>
        <p:nvSpPr>
          <p:cNvPr id="17" name="Text 15"/>
          <p:cNvSpPr txBox="1"/>
          <p:nvPr/>
        </p:nvSpPr>
        <p:spPr>
          <a:xfrm>
            <a:off x="8357616" y="3447288"/>
            <a:ext cx="3054096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Prepare launch</a:t>
            </a:r>
            <a:endParaRPr lang="en-US" sz="2200" dirty="0"/>
          </a:p>
        </p:txBody>
      </p:sp>
      <p:sp>
        <p:nvSpPr>
          <p:cNvPr id="18" name="Text 16"/>
          <p:cNvSpPr txBox="1"/>
          <p:nvPr/>
        </p:nvSpPr>
        <p:spPr>
          <a:xfrm>
            <a:off x="8357616" y="4114800"/>
            <a:ext cx="3054096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dirty="0">
                <a:solidFill>
                  <a:srgbClr val="DDE8E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Complete device testing, firm-user acceptance, backups, monitoring, training and support arrangements.</a:t>
            </a:r>
            <a:endParaRPr lang="en-US" sz="1700" dirty="0"/>
          </a:p>
        </p:txBody>
      </p:sp>
      <p:sp>
        <p:nvSpPr>
          <p:cNvPr id="19" name="Text 17">
            <a:hlinkClick r:id="rId1" tooltip=""/>
          </p:cNvPr>
          <p:cNvSpPr txBox="1"/>
          <p:nvPr/>
        </p:nvSpPr>
        <p:spPr>
          <a:xfrm>
            <a:off x="594360" y="5897880"/>
            <a:ext cx="7315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u="sng" dirty="0">
                <a:solidFill>
                  <a:srgbClr val="B79756"/>
                </a:solidFill>
                <a:latin typeface="Arial" pitchFamily="34" charset="0"/>
                <a:ea typeface="Arial" pitchFamily="34" charset="-122"/>
                <a:cs typeface="Arial" pitchFamily="34" charset="-120"/>
                <a:hlinkClick r:id="rId1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Open the interactive experience →</a:t>
            </a:r>
            <a:endParaRPr lang="en-US" sz="16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mbria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rial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14</Slides>
  <Notes>14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14</vt:i4>
      </vt:variant>
    </vt:vector>
  </HeadingPairs>
  <TitlesOfParts>
    <vt:vector size="17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Your firm. One connected service.</dc:title>
  <dc:subject>Client experience, operating model and delivery scope</dc:subject>
  <dc:creator>Lawyer App</dc:creator>
  <cp:lastModifiedBy>Lawyer App</cp:lastModifiedBy>
  <cp:revision>1</cp:revision>
  <dcterms:created xsi:type="dcterms:W3CDTF">2026-09-27T18:08:06Z</dcterms:created>
  <dcterms:modified xsi:type="dcterms:W3CDTF">2026-09-27T18:08:06Z</dcterms:modified>
</cp:coreProperties>
</file>